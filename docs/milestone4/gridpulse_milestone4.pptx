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lestone 4" id="{0eb43ad6-c54e-a7ba-d296-6301705e0f4c}">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3 ran three containers on gridpulse-vm, and every piece of state sat on that VM's disk: the Postgres data in the pgdata volume, uploaded PDFs in the uploads volume, and the database password in a .env file. If the VM was deleted, all three were lost. In Milestone 4 the VM only runs the two stateless containers. The database moved to Cloud SQL for PostgreSQL 16, reachable only on a private IP with TLS required. Uploaded PDFs go straight from memory to a Cloud Storage bucket. The password lives in Secret Manager and is read into memory at start-up by the VM's service account. The tables are now created by an Alembic migration instead of by the app. The backend container even runs with a read-only filesystem, so it physically cannot keep state. We copied the Milestone 3 data across with pg_dump and psql; row counts and checksums matched on all seven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VM now runs as a dedicated service account, gridpulse-vm-sa, instead of the default compute account, which has Editor on the whole project. It gets short-lived tokens from the metadata server, so there is no key file anywhere. Each role is granted on the one resource it is needed for: Secret Manager Secret Accessor on the app's DB password secret only, Storage Object Creator and Viewer on the uploads bucket only, Cloud SQL Client so the backend can look up the instance's private IP, and Artifact Registry Reader on our repository so the VM can pull images. Network: the VM sits in the default VPC's us-central1 subnet. Its static external IP is the only public address, and the firewall allows only our four team IPs on ports 22, 80 and 8000. Cloud SQL has no public IP at all: it takes an address from the 10.60.0.0/20 range that is peered into our VPC through private services access, and it only accepts TLS connections. The bucket has public access prevention and uniform bucket-level access, so nothing in it can be made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P_TITLE_ONLY">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r>
              <a:rPr lang="en-US" sz="3400" b="1" dirty="0">
                <a:solidFill>
                  <a:schemeClr val="bg1"/>
                </a:solidFill>
                <a:latin typeface="Cambria" pitchFamily="34" charset="0"/>
                <a:ea typeface="Cambria" pitchFamily="34" charset="-122"/>
                <a:cs typeface="Cambria" pitchFamily="34" charset="-120"/>
              </a:rPr>
              <a:t>Title</a:t>
            </a:r>
            <a:endParaRPr lang="en-US" sz="3400" dirty="0"/>
          </a:p>
        </p:txBody>
      </p:sp>
      <p:sp>
        <p:nvSpPr>
          <p:cNvPr id="3" name="Text 0"/>
          <p:cNvSpPr/>
          <p:nvPr>
            <p:ph idx="101" type="body" hasCustomPrompt="1"/>
          </p:nvPr>
        </p:nvSpPr>
        <p:spPr>
          <a:xfrm>
            <a:off x="548640" y="987552"/>
            <a:ext cx="11091672" cy="365760"/>
          </a:xfrm>
          <a:prstGeom prst="rect">
            <a:avLst/>
          </a:prstGeom>
          <a:noFill/>
          <a:ln/>
        </p:spPr>
        <p:txBody>
          <a:bodyPr wrap="square" rtlCol="0"/>
          <a:lstStyle>
            <a:lvl1pPr algn="l" indent="0" marL="0">
              <a:buNone/>
              <a:defRPr lang="en-US" sz="1500" dirty="0">
                <a:solidFill>
                  <a:schemeClr val="bg2"/>
                </a:solidFill>
                <a:latin typeface="Calibri" pitchFamily="34" charset="0"/>
                <a:ea typeface="Calibri" pitchFamily="34" charset="-122"/>
                <a:cs typeface="Calibri" pitchFamily="34" charset="-120"/>
              </a:defRPr>
            </a:lvl1pPr>
          </a:lstStyle>
          <a:p>
            <a:pPr algn="l" indent="0" marL="0">
              <a:buNone/>
            </a:pPr>
            <a:r>
              <a:rPr lang="en-US" sz="1500" dirty="0">
                <a:solidFill>
                  <a:schemeClr val="bg2"/>
                </a:solidFill>
                <a:latin typeface="Calibri" pitchFamily="34" charset="0"/>
                <a:ea typeface="Calibri" pitchFamily="34" charset="-122"/>
                <a:cs typeface="Calibri" pitchFamily="34" charset="-120"/>
              </a:rPr>
              <a:t>Subtitle</a:t>
            </a: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slideLayout" Target="../slideLayouts/slideLayout2.xml"/><Relationship Id="rId2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Before and after: where the state lives</a:t>
            </a:r>
            <a:endParaRPr lang="en-US" sz="3400" dirty="0"/>
          </a:p>
        </p:txBody>
      </p:sp>
      <p:sp>
        <p:nvSpPr>
          <p:cNvPr id="3" name="Text 0"/>
          <p:cNvSpPr/>
          <p:nvPr>
            <p:ph idx="101" type="body" hasCustomPrompt="1"/>
          </p:nvPr>
        </p:nvSpPr>
        <p:spPr>
          <a:xfrm>
            <a:off x="548640" y="987552"/>
            <a:ext cx="11091672" cy="365760"/>
          </a:xfrm>
          <a:prstGeom prst="rect">
            <a:avLst/>
          </a:prstGeom>
          <a:noFill/>
          <a:ln/>
        </p:spPr>
        <p:txBody>
          <a:bodyPr wrap="square" lIns="0" tIns="0" rIns="0" bIns="0" rtlCol="0" anchor="ctr"/>
          <a:lstStyle/>
          <a:p>
            <a:pPr algn="l" indent="0" marL="0">
              <a:buNone/>
            </a:pPr>
            <a:r>
              <a:rPr lang="en-US" sz="1500" dirty="0">
                <a:solidFill>
                  <a:schemeClr val="bg2"/>
                </a:solidFill>
                <a:latin typeface="Calibri" pitchFamily="34" charset="0"/>
                <a:ea typeface="Calibri" pitchFamily="34" charset="-122"/>
                <a:cs typeface="Calibri" pitchFamily="34" charset="-120"/>
              </a:rPr>
              <a:t>Milestone 3 kept every byte of state on gridpulse-vm. Milestone 4 moves all of it into managed services, so the VM is disposable.</a:t>
            </a:r>
            <a:endParaRPr lang="en-US" sz="1500" dirty="0"/>
          </a:p>
        </p:txBody>
      </p:sp>
      <p:sp>
        <p:nvSpPr>
          <p:cNvPr id="4" name="before-panel-1"/>
          <p:cNvSpPr/>
          <p:nvPr/>
        </p:nvSpPr>
        <p:spPr>
          <a:xfrm>
            <a:off x="548640" y="1600200"/>
            <a:ext cx="5440680" cy="3520440"/>
          </a:xfrm>
          <a:prstGeom prst="roundRect">
            <a:avLst>
              <a:gd name="adj" fmla="val 2078"/>
            </a:avLst>
          </a:prstGeom>
          <a:solidFill>
            <a:schemeClr val="tx2"/>
          </a:solidFill>
          <a:ln w="15875">
            <a:solidFill>
              <a:schemeClr val="accent2"/>
            </a:solidFill>
            <a:prstDash val="solid"/>
          </a:ln>
        </p:spPr>
      </p:sp>
      <p:pic>
        <p:nvPicPr>
          <p:cNvPr id="5" name="before-icon-2" descr="preencoded.png">    </p:cNvPr>
          <p:cNvPicPr>
            <a:picLocks noChangeAspect="1"/>
          </p:cNvPicPr>
          <p:nvPr/>
        </p:nvPicPr>
        <p:blipFill>
          <a:blip r:embed="rId1"/>
          <a:stretch>
            <a:fillRect/>
          </a:stretch>
        </p:blipFill>
        <p:spPr>
          <a:xfrm>
            <a:off x="822960" y="1819656"/>
            <a:ext cx="310896" cy="310896"/>
          </a:xfrm>
          <a:prstGeom prst="rect">
            <a:avLst/>
          </a:prstGeom>
        </p:spPr>
      </p:pic>
      <p:sp>
        <p:nvSpPr>
          <p:cNvPr id="6" name="text-3"/>
          <p:cNvSpPr txBox="1"/>
          <p:nvPr/>
        </p:nvSpPr>
        <p:spPr>
          <a:xfrm>
            <a:off x="1243584" y="1819656"/>
            <a:ext cx="4526280" cy="310896"/>
          </a:xfrm>
          <a:prstGeom prst="rect">
            <a:avLst/>
          </a:prstGeom>
          <a:noFill/>
          <a:ln/>
        </p:spPr>
        <p:txBody>
          <a:bodyPr wrap="square" lIns="0" tIns="0" rIns="0" bIns="0" rtlCol="0" anchor="ctr"/>
          <a:lstStyle/>
          <a:p>
            <a:pPr algn="l" indent="0" marL="0">
              <a:buNone/>
            </a:pPr>
            <a:r>
              <a:rPr lang="en-US" sz="1500" b="1" dirty="0">
                <a:solidFill>
                  <a:schemeClr val="accent2"/>
                </a:solidFill>
              </a:rPr>
              <a:t>BEFORE — Milestone 3: state lives on the VM</a:t>
            </a:r>
            <a:endParaRPr lang="en-US" sz="1500" dirty="0"/>
          </a:p>
        </p:txBody>
      </p:sp>
      <p:sp>
        <p:nvSpPr>
          <p:cNvPr id="7" name="before-vm-4"/>
          <p:cNvSpPr/>
          <p:nvPr/>
        </p:nvSpPr>
        <p:spPr>
          <a:xfrm>
            <a:off x="822960" y="2331720"/>
            <a:ext cx="4892040" cy="2194560"/>
          </a:xfrm>
          <a:prstGeom prst="roundRect">
            <a:avLst>
              <a:gd name="adj" fmla="val 3333"/>
            </a:avLst>
          </a:prstGeom>
          <a:ln w="9525">
            <a:solidFill>
              <a:schemeClr val="bg2"/>
            </a:solidFill>
            <a:prstDash val="dash"/>
          </a:ln>
        </p:spPr>
      </p:sp>
      <p:sp>
        <p:nvSpPr>
          <p:cNvPr id="8" name="label-5"/>
          <p:cNvSpPr txBox="1"/>
          <p:nvPr/>
        </p:nvSpPr>
        <p:spPr>
          <a:xfrm>
            <a:off x="1005840" y="2459736"/>
            <a:ext cx="4526280" cy="228600"/>
          </a:xfrm>
          <a:prstGeom prst="rect">
            <a:avLst/>
          </a:prstGeom>
          <a:noFill/>
          <a:ln/>
        </p:spPr>
        <p:txBody>
          <a:bodyPr wrap="square" lIns="0" tIns="0" rIns="0" bIns="0" rtlCol="0" anchor="t"/>
          <a:lstStyle/>
          <a:p>
            <a:pPr algn="l" indent="0" marL="0">
              <a:buNone/>
            </a:pPr>
            <a:r>
              <a:rPr lang="en-US" sz="1050" b="1" spc="150" kern="0" dirty="0">
                <a:solidFill>
                  <a:schemeClr val="bg2"/>
                </a:solidFill>
              </a:rPr>
              <a:t>GRIDPULSE-VM  ·  ITS DISK IS THE ONLY COPY</a:t>
            </a:r>
            <a:endParaRPr lang="en-US" sz="1050" dirty="0"/>
          </a:p>
        </p:txBody>
      </p:sp>
      <p:sp>
        <p:nvSpPr>
          <p:cNvPr id="9" name="container-chip-6"/>
          <p:cNvSpPr/>
          <p:nvPr/>
        </p:nvSpPr>
        <p:spPr>
          <a:xfrm>
            <a:off x="1005840" y="2788920"/>
            <a:ext cx="1435608" cy="420624"/>
          </a:xfrm>
          <a:prstGeom prst="roundRect">
            <a:avLst>
              <a:gd name="adj" fmla="val 17391"/>
            </a:avLst>
          </a:prstGeom>
          <a:solidFill>
            <a:schemeClr val="accent4"/>
          </a:solidFill>
          <a:ln w="9525">
            <a:solidFill>
              <a:schemeClr val="accent3"/>
            </a:solidFill>
            <a:prstDash val="solid"/>
          </a:ln>
        </p:spPr>
      </p:sp>
      <p:pic>
        <p:nvPicPr>
          <p:cNvPr id="10" name="icon-7" descr="preencoded.png">    </p:cNvPr>
          <p:cNvPicPr>
            <a:picLocks noChangeAspect="1"/>
          </p:cNvPicPr>
          <p:nvPr/>
        </p:nvPicPr>
        <p:blipFill>
          <a:blip r:embed="rId2"/>
          <a:stretch>
            <a:fillRect/>
          </a:stretch>
        </p:blipFill>
        <p:spPr>
          <a:xfrm>
            <a:off x="1115568" y="2889504"/>
            <a:ext cx="219456" cy="219456"/>
          </a:xfrm>
          <a:prstGeom prst="rect">
            <a:avLst/>
          </a:prstGeom>
        </p:spPr>
      </p:pic>
      <p:sp>
        <p:nvSpPr>
          <p:cNvPr id="11" name="text-8"/>
          <p:cNvSpPr txBox="1"/>
          <p:nvPr/>
        </p:nvSpPr>
        <p:spPr>
          <a:xfrm>
            <a:off x="1408176" y="2788920"/>
            <a:ext cx="978408" cy="420624"/>
          </a:xfrm>
          <a:prstGeom prst="rect">
            <a:avLst/>
          </a:prstGeom>
          <a:noFill/>
          <a:ln/>
        </p:spPr>
        <p:txBody>
          <a:bodyPr wrap="square" lIns="0" tIns="0" rIns="0" bIns="0" rtlCol="0" anchor="ctr"/>
          <a:lstStyle/>
          <a:p>
            <a:pPr algn="l" indent="0" marL="0">
              <a:buNone/>
            </a:pPr>
            <a:r>
              <a:rPr lang="en-US" sz="1250" b="1" dirty="0">
                <a:solidFill>
                  <a:schemeClr val="bg1"/>
                </a:solidFill>
              </a:rPr>
              <a:t>frontend</a:t>
            </a:r>
            <a:endParaRPr lang="en-US" sz="1250" dirty="0"/>
          </a:p>
        </p:txBody>
      </p:sp>
      <p:sp>
        <p:nvSpPr>
          <p:cNvPr id="12" name="container-chip-9"/>
          <p:cNvSpPr/>
          <p:nvPr/>
        </p:nvSpPr>
        <p:spPr>
          <a:xfrm>
            <a:off x="2551176" y="2788920"/>
            <a:ext cx="1435608" cy="420624"/>
          </a:xfrm>
          <a:prstGeom prst="roundRect">
            <a:avLst>
              <a:gd name="adj" fmla="val 17391"/>
            </a:avLst>
          </a:prstGeom>
          <a:solidFill>
            <a:schemeClr val="accent4"/>
          </a:solidFill>
          <a:ln w="9525">
            <a:solidFill>
              <a:schemeClr val="accent3"/>
            </a:solidFill>
            <a:prstDash val="solid"/>
          </a:ln>
        </p:spPr>
      </p:sp>
      <p:pic>
        <p:nvPicPr>
          <p:cNvPr id="13" name="icon-10" descr="preencoded.png">    </p:cNvPr>
          <p:cNvPicPr>
            <a:picLocks noChangeAspect="1"/>
          </p:cNvPicPr>
          <p:nvPr/>
        </p:nvPicPr>
        <p:blipFill>
          <a:blip r:embed="rId3"/>
          <a:stretch>
            <a:fillRect/>
          </a:stretch>
        </p:blipFill>
        <p:spPr>
          <a:xfrm>
            <a:off x="2660904" y="2889504"/>
            <a:ext cx="219456" cy="219456"/>
          </a:xfrm>
          <a:prstGeom prst="rect">
            <a:avLst/>
          </a:prstGeom>
        </p:spPr>
      </p:pic>
      <p:sp>
        <p:nvSpPr>
          <p:cNvPr id="14" name="text-11"/>
          <p:cNvSpPr txBox="1"/>
          <p:nvPr/>
        </p:nvSpPr>
        <p:spPr>
          <a:xfrm>
            <a:off x="2953512" y="2788920"/>
            <a:ext cx="978408" cy="420624"/>
          </a:xfrm>
          <a:prstGeom prst="rect">
            <a:avLst/>
          </a:prstGeom>
          <a:noFill/>
          <a:ln/>
        </p:spPr>
        <p:txBody>
          <a:bodyPr wrap="square" lIns="0" tIns="0" rIns="0" bIns="0" rtlCol="0" anchor="ctr"/>
          <a:lstStyle/>
          <a:p>
            <a:pPr algn="l" indent="0" marL="0">
              <a:buNone/>
            </a:pPr>
            <a:r>
              <a:rPr lang="en-US" sz="1250" b="1" dirty="0">
                <a:solidFill>
                  <a:schemeClr val="bg1"/>
                </a:solidFill>
              </a:rPr>
              <a:t>backend</a:t>
            </a:r>
            <a:endParaRPr lang="en-US" sz="1250" dirty="0"/>
          </a:p>
        </p:txBody>
      </p:sp>
      <p:sp>
        <p:nvSpPr>
          <p:cNvPr id="15" name="container-chip-12"/>
          <p:cNvSpPr/>
          <p:nvPr/>
        </p:nvSpPr>
        <p:spPr>
          <a:xfrm>
            <a:off x="4096512" y="2788920"/>
            <a:ext cx="1435608" cy="420624"/>
          </a:xfrm>
          <a:prstGeom prst="roundRect">
            <a:avLst>
              <a:gd name="adj" fmla="val 17391"/>
            </a:avLst>
          </a:prstGeom>
          <a:solidFill>
            <a:schemeClr val="accent4"/>
          </a:solidFill>
          <a:ln w="9525">
            <a:solidFill>
              <a:schemeClr val="accent3"/>
            </a:solidFill>
            <a:prstDash val="solid"/>
          </a:ln>
        </p:spPr>
      </p:sp>
      <p:pic>
        <p:nvPicPr>
          <p:cNvPr id="16" name="icon-13" descr="preencoded.png">    </p:cNvPr>
          <p:cNvPicPr>
            <a:picLocks noChangeAspect="1"/>
          </p:cNvPicPr>
          <p:nvPr/>
        </p:nvPicPr>
        <p:blipFill>
          <a:blip r:embed="rId4"/>
          <a:stretch>
            <a:fillRect/>
          </a:stretch>
        </p:blipFill>
        <p:spPr>
          <a:xfrm>
            <a:off x="4206240" y="2889504"/>
            <a:ext cx="219456" cy="219456"/>
          </a:xfrm>
          <a:prstGeom prst="rect">
            <a:avLst/>
          </a:prstGeom>
        </p:spPr>
      </p:pic>
      <p:sp>
        <p:nvSpPr>
          <p:cNvPr id="17" name="text-14"/>
          <p:cNvSpPr txBox="1"/>
          <p:nvPr/>
        </p:nvSpPr>
        <p:spPr>
          <a:xfrm>
            <a:off x="4498848" y="2788920"/>
            <a:ext cx="978408" cy="420624"/>
          </a:xfrm>
          <a:prstGeom prst="rect">
            <a:avLst/>
          </a:prstGeom>
          <a:noFill/>
          <a:ln/>
        </p:spPr>
        <p:txBody>
          <a:bodyPr wrap="square" lIns="0" tIns="0" rIns="0" bIns="0" rtlCol="0" anchor="ctr"/>
          <a:lstStyle/>
          <a:p>
            <a:pPr algn="l" indent="0" marL="0">
              <a:buNone/>
            </a:pPr>
            <a:r>
              <a:rPr lang="en-US" sz="1250" b="1" dirty="0">
                <a:solidFill>
                  <a:schemeClr val="bg1"/>
                </a:solidFill>
              </a:rPr>
              <a:t>db</a:t>
            </a:r>
            <a:endParaRPr lang="en-US" sz="1250" dirty="0"/>
          </a:p>
        </p:txBody>
      </p:sp>
      <p:sp>
        <p:nvSpPr>
          <p:cNvPr id="18" name="label-15"/>
          <p:cNvSpPr txBox="1"/>
          <p:nvPr/>
        </p:nvSpPr>
        <p:spPr>
          <a:xfrm>
            <a:off x="1005840" y="3337560"/>
            <a:ext cx="4526280" cy="228600"/>
          </a:xfrm>
          <a:prstGeom prst="rect">
            <a:avLst/>
          </a:prstGeom>
          <a:noFill/>
          <a:ln/>
        </p:spPr>
        <p:txBody>
          <a:bodyPr wrap="square" lIns="0" tIns="0" rIns="0" bIns="0" rtlCol="0" anchor="t"/>
          <a:lstStyle/>
          <a:p>
            <a:pPr algn="l" indent="0" marL="0">
              <a:buNone/>
            </a:pPr>
            <a:r>
              <a:rPr lang="en-US" sz="1050" b="1" spc="150" kern="0" dirty="0">
                <a:solidFill>
                  <a:schemeClr val="accent5"/>
                </a:solidFill>
              </a:rPr>
              <a:t>STATE ON THE VM'S DISK</a:t>
            </a:r>
            <a:endParaRPr lang="en-US" sz="1050" dirty="0"/>
          </a:p>
        </p:txBody>
      </p:sp>
      <p:sp>
        <p:nvSpPr>
          <p:cNvPr id="19" name="state-card-16"/>
          <p:cNvSpPr/>
          <p:nvPr/>
        </p:nvSpPr>
        <p:spPr>
          <a:xfrm>
            <a:off x="1005840" y="3611880"/>
            <a:ext cx="1435608" cy="749808"/>
          </a:xfrm>
          <a:prstGeom prst="roundRect">
            <a:avLst>
              <a:gd name="adj" fmla="val 9756"/>
            </a:avLst>
          </a:prstGeom>
          <a:solidFill>
            <a:schemeClr val="tx2"/>
          </a:solidFill>
          <a:ln w="12700">
            <a:solidFill>
              <a:schemeClr val="accent5"/>
            </a:solidFill>
            <a:prstDash val="solid"/>
          </a:ln>
        </p:spPr>
      </p:sp>
      <p:pic>
        <p:nvPicPr>
          <p:cNvPr id="20" name="icon-17" descr="preencoded.png">    </p:cNvPr>
          <p:cNvPicPr>
            <a:picLocks noChangeAspect="1"/>
          </p:cNvPicPr>
          <p:nvPr/>
        </p:nvPicPr>
        <p:blipFill>
          <a:blip r:embed="rId5"/>
          <a:stretch>
            <a:fillRect/>
          </a:stretch>
        </p:blipFill>
        <p:spPr>
          <a:xfrm>
            <a:off x="1115568" y="3739896"/>
            <a:ext cx="237744" cy="237744"/>
          </a:xfrm>
          <a:prstGeom prst="rect">
            <a:avLst/>
          </a:prstGeom>
        </p:spPr>
      </p:pic>
      <p:sp>
        <p:nvSpPr>
          <p:cNvPr id="21" name="text-18"/>
          <p:cNvSpPr txBox="1"/>
          <p:nvPr/>
        </p:nvSpPr>
        <p:spPr>
          <a:xfrm>
            <a:off x="1426464" y="3703320"/>
            <a:ext cx="960120" cy="274320"/>
          </a:xfrm>
          <a:prstGeom prst="rect">
            <a:avLst/>
          </a:prstGeom>
          <a:noFill/>
          <a:ln/>
        </p:spPr>
        <p:txBody>
          <a:bodyPr wrap="square" lIns="0" tIns="0" rIns="0" bIns="0" rtlCol="0" anchor="ctr"/>
          <a:lstStyle/>
          <a:p>
            <a:pPr algn="l" indent="0" marL="0">
              <a:buNone/>
            </a:pPr>
            <a:r>
              <a:rPr lang="en-US" sz="1250" b="1" dirty="0">
                <a:solidFill>
                  <a:schemeClr val="bg1"/>
                </a:solidFill>
              </a:rPr>
              <a:t>pgdata</a:t>
            </a:r>
            <a:endParaRPr lang="en-US" sz="1250" dirty="0"/>
          </a:p>
        </p:txBody>
      </p:sp>
      <p:sp>
        <p:nvSpPr>
          <p:cNvPr id="22" name="text-19"/>
          <p:cNvSpPr txBox="1"/>
          <p:nvPr/>
        </p:nvSpPr>
        <p:spPr>
          <a:xfrm>
            <a:off x="1426464" y="3977640"/>
            <a:ext cx="960120" cy="347472"/>
          </a:xfrm>
          <a:prstGeom prst="rect">
            <a:avLst/>
          </a:prstGeom>
          <a:noFill/>
          <a:ln/>
        </p:spPr>
        <p:txBody>
          <a:bodyPr wrap="square" lIns="0" tIns="0" rIns="0" bIns="0" rtlCol="0" anchor="t"/>
          <a:lstStyle/>
          <a:p>
            <a:pPr algn="l" indent="0" marL="0">
              <a:buNone/>
            </a:pPr>
            <a:r>
              <a:rPr lang="en-US" sz="1050" dirty="0">
                <a:solidFill>
                  <a:schemeClr val="bg2"/>
                </a:solidFill>
              </a:rPr>
              <a:t>volume · all 7 tables</a:t>
            </a:r>
            <a:endParaRPr lang="en-US" sz="1050" dirty="0"/>
          </a:p>
        </p:txBody>
      </p:sp>
      <p:sp>
        <p:nvSpPr>
          <p:cNvPr id="23" name="state-card-20"/>
          <p:cNvSpPr/>
          <p:nvPr/>
        </p:nvSpPr>
        <p:spPr>
          <a:xfrm>
            <a:off x="2551176" y="3611880"/>
            <a:ext cx="1435608" cy="749808"/>
          </a:xfrm>
          <a:prstGeom prst="roundRect">
            <a:avLst>
              <a:gd name="adj" fmla="val 9756"/>
            </a:avLst>
          </a:prstGeom>
          <a:solidFill>
            <a:schemeClr val="tx2"/>
          </a:solidFill>
          <a:ln w="12700">
            <a:solidFill>
              <a:schemeClr val="accent5"/>
            </a:solidFill>
            <a:prstDash val="solid"/>
          </a:ln>
        </p:spPr>
      </p:sp>
      <p:pic>
        <p:nvPicPr>
          <p:cNvPr id="24" name="icon-21" descr="preencoded.png">    </p:cNvPr>
          <p:cNvPicPr>
            <a:picLocks noChangeAspect="1"/>
          </p:cNvPicPr>
          <p:nvPr/>
        </p:nvPicPr>
        <p:blipFill>
          <a:blip r:embed="rId6"/>
          <a:stretch>
            <a:fillRect/>
          </a:stretch>
        </p:blipFill>
        <p:spPr>
          <a:xfrm>
            <a:off x="2660904" y="3739896"/>
            <a:ext cx="237744" cy="237744"/>
          </a:xfrm>
          <a:prstGeom prst="rect">
            <a:avLst/>
          </a:prstGeom>
        </p:spPr>
      </p:pic>
      <p:sp>
        <p:nvSpPr>
          <p:cNvPr id="25" name="text-22"/>
          <p:cNvSpPr txBox="1"/>
          <p:nvPr/>
        </p:nvSpPr>
        <p:spPr>
          <a:xfrm>
            <a:off x="2971800" y="3703320"/>
            <a:ext cx="960120" cy="274320"/>
          </a:xfrm>
          <a:prstGeom prst="rect">
            <a:avLst/>
          </a:prstGeom>
          <a:noFill/>
          <a:ln/>
        </p:spPr>
        <p:txBody>
          <a:bodyPr wrap="square" lIns="0" tIns="0" rIns="0" bIns="0" rtlCol="0" anchor="ctr"/>
          <a:lstStyle/>
          <a:p>
            <a:pPr algn="l" indent="0" marL="0">
              <a:buNone/>
            </a:pPr>
            <a:r>
              <a:rPr lang="en-US" sz="1250" b="1" dirty="0">
                <a:solidFill>
                  <a:schemeClr val="bg1"/>
                </a:solidFill>
              </a:rPr>
              <a:t>uploads</a:t>
            </a:r>
            <a:endParaRPr lang="en-US" sz="1250" dirty="0"/>
          </a:p>
        </p:txBody>
      </p:sp>
      <p:sp>
        <p:nvSpPr>
          <p:cNvPr id="26" name="text-23"/>
          <p:cNvSpPr txBox="1"/>
          <p:nvPr/>
        </p:nvSpPr>
        <p:spPr>
          <a:xfrm>
            <a:off x="2971800" y="3977640"/>
            <a:ext cx="960120" cy="347472"/>
          </a:xfrm>
          <a:prstGeom prst="rect">
            <a:avLst/>
          </a:prstGeom>
          <a:noFill/>
          <a:ln/>
        </p:spPr>
        <p:txBody>
          <a:bodyPr wrap="square" lIns="0" tIns="0" rIns="0" bIns="0" rtlCol="0" anchor="t"/>
          <a:lstStyle/>
          <a:p>
            <a:pPr algn="l" indent="0" marL="0">
              <a:buNone/>
            </a:pPr>
            <a:r>
              <a:rPr lang="en-US" sz="1050" dirty="0">
                <a:solidFill>
                  <a:schemeClr val="bg2"/>
                </a:solidFill>
              </a:rPr>
              <a:t>volume · uploaded PDFs</a:t>
            </a:r>
            <a:endParaRPr lang="en-US" sz="1050" dirty="0"/>
          </a:p>
        </p:txBody>
      </p:sp>
      <p:sp>
        <p:nvSpPr>
          <p:cNvPr id="27" name="state-card-24"/>
          <p:cNvSpPr/>
          <p:nvPr/>
        </p:nvSpPr>
        <p:spPr>
          <a:xfrm>
            <a:off x="4096512" y="3611880"/>
            <a:ext cx="1435608" cy="749808"/>
          </a:xfrm>
          <a:prstGeom prst="roundRect">
            <a:avLst>
              <a:gd name="adj" fmla="val 9756"/>
            </a:avLst>
          </a:prstGeom>
          <a:solidFill>
            <a:schemeClr val="tx2"/>
          </a:solidFill>
          <a:ln w="12700">
            <a:solidFill>
              <a:schemeClr val="accent5"/>
            </a:solidFill>
            <a:prstDash val="solid"/>
          </a:ln>
        </p:spPr>
      </p:sp>
      <p:pic>
        <p:nvPicPr>
          <p:cNvPr id="28" name="icon-25" descr="preencoded.png">    </p:cNvPr>
          <p:cNvPicPr>
            <a:picLocks noChangeAspect="1"/>
          </p:cNvPicPr>
          <p:nvPr/>
        </p:nvPicPr>
        <p:blipFill>
          <a:blip r:embed="rId7"/>
          <a:stretch>
            <a:fillRect/>
          </a:stretch>
        </p:blipFill>
        <p:spPr>
          <a:xfrm>
            <a:off x="4206240" y="3739896"/>
            <a:ext cx="237744" cy="237744"/>
          </a:xfrm>
          <a:prstGeom prst="rect">
            <a:avLst/>
          </a:prstGeom>
        </p:spPr>
      </p:pic>
      <p:sp>
        <p:nvSpPr>
          <p:cNvPr id="29" name="text-26"/>
          <p:cNvSpPr txBox="1"/>
          <p:nvPr/>
        </p:nvSpPr>
        <p:spPr>
          <a:xfrm>
            <a:off x="4517136" y="3703320"/>
            <a:ext cx="960120" cy="274320"/>
          </a:xfrm>
          <a:prstGeom prst="rect">
            <a:avLst/>
          </a:prstGeom>
          <a:noFill/>
          <a:ln/>
        </p:spPr>
        <p:txBody>
          <a:bodyPr wrap="square" lIns="0" tIns="0" rIns="0" bIns="0" rtlCol="0" anchor="ctr"/>
          <a:lstStyle/>
          <a:p>
            <a:pPr algn="l" indent="0" marL="0">
              <a:buNone/>
            </a:pPr>
            <a:r>
              <a:rPr lang="en-US" sz="1250" b="1" dirty="0">
                <a:solidFill>
                  <a:schemeClr val="bg1"/>
                </a:solidFill>
              </a:rPr>
              <a:t>.env</a:t>
            </a:r>
            <a:endParaRPr lang="en-US" sz="1250" dirty="0"/>
          </a:p>
        </p:txBody>
      </p:sp>
      <p:sp>
        <p:nvSpPr>
          <p:cNvPr id="30" name="text-27"/>
          <p:cNvSpPr txBox="1"/>
          <p:nvPr/>
        </p:nvSpPr>
        <p:spPr>
          <a:xfrm>
            <a:off x="4517136" y="3977640"/>
            <a:ext cx="960120" cy="347472"/>
          </a:xfrm>
          <a:prstGeom prst="rect">
            <a:avLst/>
          </a:prstGeom>
          <a:noFill/>
          <a:ln/>
        </p:spPr>
        <p:txBody>
          <a:bodyPr wrap="square" lIns="0" tIns="0" rIns="0" bIns="0" rtlCol="0" anchor="t"/>
          <a:lstStyle/>
          <a:p>
            <a:pPr algn="l" indent="0" marL="0">
              <a:buNone/>
            </a:pPr>
            <a:r>
              <a:rPr lang="en-US" sz="1050" dirty="0">
                <a:solidFill>
                  <a:schemeClr val="bg2"/>
                </a:solidFill>
              </a:rPr>
              <a:t>DB password in plain text</a:t>
            </a:r>
            <a:endParaRPr lang="en-US" sz="1050" dirty="0"/>
          </a:p>
        </p:txBody>
      </p:sp>
      <p:pic>
        <p:nvPicPr>
          <p:cNvPr id="31" name="icon-28" descr="preencoded.png">    </p:cNvPr>
          <p:cNvPicPr>
            <a:picLocks noChangeAspect="1"/>
          </p:cNvPicPr>
          <p:nvPr/>
        </p:nvPicPr>
        <p:blipFill>
          <a:blip r:embed="rId8"/>
          <a:stretch>
            <a:fillRect/>
          </a:stretch>
        </p:blipFill>
        <p:spPr>
          <a:xfrm>
            <a:off x="822960" y="4672584"/>
            <a:ext cx="237744" cy="237744"/>
          </a:xfrm>
          <a:prstGeom prst="rect">
            <a:avLst/>
          </a:prstGeom>
        </p:spPr>
      </p:pic>
      <p:sp>
        <p:nvSpPr>
          <p:cNvPr id="32" name="text-29"/>
          <p:cNvSpPr txBox="1"/>
          <p:nvPr/>
        </p:nvSpPr>
        <p:spPr>
          <a:xfrm>
            <a:off x="1170432" y="4645152"/>
            <a:ext cx="4617720" cy="292608"/>
          </a:xfrm>
          <a:prstGeom prst="rect">
            <a:avLst/>
          </a:prstGeom>
          <a:noFill/>
          <a:ln/>
        </p:spPr>
        <p:txBody>
          <a:bodyPr wrap="square" lIns="0" tIns="0" rIns="0" bIns="0" rtlCol="0" anchor="ctr"/>
          <a:lstStyle/>
          <a:p>
            <a:pPr algn="l" indent="0" marL="0">
              <a:buNone/>
            </a:pPr>
            <a:r>
              <a:rPr lang="en-US" sz="1250" i="1" dirty="0">
                <a:solidFill>
                  <a:schemeClr val="accent5"/>
                </a:solidFill>
              </a:rPr>
              <a:t>Delete the VM: the data, the PDFs and the password are gone.</a:t>
            </a:r>
            <a:endParaRPr lang="en-US" sz="1250" dirty="0"/>
          </a:p>
        </p:txBody>
      </p:sp>
      <p:sp>
        <p:nvSpPr>
          <p:cNvPr id="33" name="after-panel-30"/>
          <p:cNvSpPr/>
          <p:nvPr/>
        </p:nvSpPr>
        <p:spPr>
          <a:xfrm>
            <a:off x="6199632" y="1600200"/>
            <a:ext cx="5440680" cy="3520440"/>
          </a:xfrm>
          <a:prstGeom prst="roundRect">
            <a:avLst>
              <a:gd name="adj" fmla="val 2078"/>
            </a:avLst>
          </a:prstGeom>
          <a:solidFill>
            <a:schemeClr val="tx2"/>
          </a:solidFill>
          <a:ln w="15875">
            <a:solidFill>
              <a:schemeClr val="accent1"/>
            </a:solidFill>
            <a:prstDash val="solid"/>
          </a:ln>
        </p:spPr>
      </p:sp>
      <p:pic>
        <p:nvPicPr>
          <p:cNvPr id="34" name="after-icon-31" descr="preencoded.png">    </p:cNvPr>
          <p:cNvPicPr>
            <a:picLocks noChangeAspect="1"/>
          </p:cNvPicPr>
          <p:nvPr/>
        </p:nvPicPr>
        <p:blipFill>
          <a:blip r:embed="rId9"/>
          <a:stretch>
            <a:fillRect/>
          </a:stretch>
        </p:blipFill>
        <p:spPr>
          <a:xfrm>
            <a:off x="6473952" y="1819656"/>
            <a:ext cx="310896" cy="310896"/>
          </a:xfrm>
          <a:prstGeom prst="rect">
            <a:avLst/>
          </a:prstGeom>
        </p:spPr>
      </p:pic>
      <p:sp>
        <p:nvSpPr>
          <p:cNvPr id="35" name="text-32"/>
          <p:cNvSpPr txBox="1"/>
          <p:nvPr/>
        </p:nvSpPr>
        <p:spPr>
          <a:xfrm>
            <a:off x="6894576" y="1819656"/>
            <a:ext cx="4526280" cy="310896"/>
          </a:xfrm>
          <a:prstGeom prst="rect">
            <a:avLst/>
          </a:prstGeom>
          <a:noFill/>
          <a:ln/>
        </p:spPr>
        <p:txBody>
          <a:bodyPr wrap="square" lIns="0" tIns="0" rIns="0" bIns="0" rtlCol="0" anchor="ctr"/>
          <a:lstStyle/>
          <a:p>
            <a:pPr algn="l" indent="0" marL="0">
              <a:buNone/>
            </a:pPr>
            <a:r>
              <a:rPr lang="en-US" sz="1500" b="1" dirty="0">
                <a:solidFill>
                  <a:schemeClr val="accent1"/>
                </a:solidFill>
              </a:rPr>
              <a:t>AFTER — Milestone 4: the VM is stateless</a:t>
            </a:r>
            <a:endParaRPr lang="en-US" sz="1500" dirty="0"/>
          </a:p>
        </p:txBody>
      </p:sp>
      <p:sp>
        <p:nvSpPr>
          <p:cNvPr id="36" name="after-vm-33"/>
          <p:cNvSpPr/>
          <p:nvPr/>
        </p:nvSpPr>
        <p:spPr>
          <a:xfrm>
            <a:off x="6473952" y="2331720"/>
            <a:ext cx="2057400" cy="2194560"/>
          </a:xfrm>
          <a:prstGeom prst="roundRect">
            <a:avLst>
              <a:gd name="adj" fmla="val 3556"/>
            </a:avLst>
          </a:prstGeom>
          <a:ln w="9525">
            <a:solidFill>
              <a:schemeClr val="bg2"/>
            </a:solidFill>
            <a:prstDash val="dash"/>
          </a:ln>
        </p:spPr>
      </p:sp>
      <p:sp>
        <p:nvSpPr>
          <p:cNvPr id="37" name="label-34"/>
          <p:cNvSpPr txBox="1"/>
          <p:nvPr/>
        </p:nvSpPr>
        <p:spPr>
          <a:xfrm>
            <a:off x="6656832" y="2459736"/>
            <a:ext cx="1691640" cy="228600"/>
          </a:xfrm>
          <a:prstGeom prst="rect">
            <a:avLst/>
          </a:prstGeom>
          <a:noFill/>
          <a:ln/>
        </p:spPr>
        <p:txBody>
          <a:bodyPr wrap="square" lIns="0" tIns="0" rIns="0" bIns="0" rtlCol="0" anchor="t"/>
          <a:lstStyle/>
          <a:p>
            <a:pPr algn="l" indent="0" marL="0">
              <a:buNone/>
            </a:pPr>
            <a:r>
              <a:rPr lang="en-US" sz="1050" b="1" spc="150" kern="0" dirty="0">
                <a:solidFill>
                  <a:schemeClr val="bg2"/>
                </a:solidFill>
              </a:rPr>
              <a:t>GRIDPULSE-VM</a:t>
            </a:r>
            <a:endParaRPr lang="en-US" sz="1050" dirty="0"/>
          </a:p>
        </p:txBody>
      </p:sp>
      <p:sp>
        <p:nvSpPr>
          <p:cNvPr id="38" name="vm-chip-35"/>
          <p:cNvSpPr/>
          <p:nvPr/>
        </p:nvSpPr>
        <p:spPr>
          <a:xfrm>
            <a:off x="6638544" y="2788920"/>
            <a:ext cx="1728216" cy="548640"/>
          </a:xfrm>
          <a:prstGeom prst="roundRect">
            <a:avLst>
              <a:gd name="adj" fmla="val 13333"/>
            </a:avLst>
          </a:prstGeom>
          <a:solidFill>
            <a:schemeClr val="accent4"/>
          </a:solidFill>
          <a:ln w="9525">
            <a:solidFill>
              <a:schemeClr val="accent3"/>
            </a:solidFill>
            <a:prstDash val="solid"/>
          </a:ln>
        </p:spPr>
      </p:sp>
      <p:pic>
        <p:nvPicPr>
          <p:cNvPr id="39" name="icon-36" descr="preencoded.png">    </p:cNvPr>
          <p:cNvPicPr>
            <a:picLocks noChangeAspect="1"/>
          </p:cNvPicPr>
          <p:nvPr/>
        </p:nvPicPr>
        <p:blipFill>
          <a:blip r:embed="rId10"/>
          <a:stretch>
            <a:fillRect/>
          </a:stretch>
        </p:blipFill>
        <p:spPr>
          <a:xfrm>
            <a:off x="6748272" y="2944368"/>
            <a:ext cx="237744" cy="237744"/>
          </a:xfrm>
          <a:prstGeom prst="rect">
            <a:avLst/>
          </a:prstGeom>
        </p:spPr>
      </p:pic>
      <p:sp>
        <p:nvSpPr>
          <p:cNvPr id="40" name="text-37"/>
          <p:cNvSpPr txBox="1"/>
          <p:nvPr/>
        </p:nvSpPr>
        <p:spPr>
          <a:xfrm>
            <a:off x="7077456" y="2843784"/>
            <a:ext cx="1252728" cy="237744"/>
          </a:xfrm>
          <a:prstGeom prst="rect">
            <a:avLst/>
          </a:prstGeom>
          <a:noFill/>
          <a:ln/>
        </p:spPr>
        <p:txBody>
          <a:bodyPr wrap="square" lIns="0" tIns="0" rIns="0" bIns="0" rtlCol="0" anchor="t"/>
          <a:lstStyle/>
          <a:p>
            <a:pPr algn="l" indent="0" marL="0">
              <a:buNone/>
            </a:pPr>
            <a:r>
              <a:rPr lang="en-US" sz="1250" b="1" dirty="0">
                <a:solidFill>
                  <a:schemeClr val="bg1"/>
                </a:solidFill>
              </a:rPr>
              <a:t>frontend</a:t>
            </a:r>
            <a:endParaRPr lang="en-US" sz="1250" dirty="0"/>
          </a:p>
        </p:txBody>
      </p:sp>
      <p:sp>
        <p:nvSpPr>
          <p:cNvPr id="41" name="text-38"/>
          <p:cNvSpPr txBox="1"/>
          <p:nvPr/>
        </p:nvSpPr>
        <p:spPr>
          <a:xfrm>
            <a:off x="7077456" y="3072384"/>
            <a:ext cx="1252728" cy="219456"/>
          </a:xfrm>
          <a:prstGeom prst="rect">
            <a:avLst/>
          </a:prstGeom>
          <a:noFill/>
          <a:ln/>
        </p:spPr>
        <p:txBody>
          <a:bodyPr wrap="square" lIns="0" tIns="0" rIns="0" bIns="0" rtlCol="0" anchor="t"/>
          <a:lstStyle/>
          <a:p>
            <a:pPr algn="l" indent="0" marL="0">
              <a:buNone/>
            </a:pPr>
            <a:r>
              <a:rPr lang="en-US" sz="1050" dirty="0">
                <a:solidFill>
                  <a:schemeClr val="bg2"/>
                </a:solidFill>
              </a:rPr>
              <a:t>nginx + React</a:t>
            </a:r>
            <a:endParaRPr lang="en-US" sz="1050" dirty="0"/>
          </a:p>
        </p:txBody>
      </p:sp>
      <p:sp>
        <p:nvSpPr>
          <p:cNvPr id="42" name="vm-chip-39"/>
          <p:cNvSpPr/>
          <p:nvPr/>
        </p:nvSpPr>
        <p:spPr>
          <a:xfrm>
            <a:off x="6638544" y="3447288"/>
            <a:ext cx="1728216" cy="548640"/>
          </a:xfrm>
          <a:prstGeom prst="roundRect">
            <a:avLst>
              <a:gd name="adj" fmla="val 13333"/>
            </a:avLst>
          </a:prstGeom>
          <a:solidFill>
            <a:schemeClr val="accent4"/>
          </a:solidFill>
          <a:ln w="9525">
            <a:solidFill>
              <a:schemeClr val="accent3"/>
            </a:solidFill>
            <a:prstDash val="solid"/>
          </a:ln>
        </p:spPr>
      </p:sp>
      <p:pic>
        <p:nvPicPr>
          <p:cNvPr id="43" name="icon-40" descr="preencoded.png">    </p:cNvPr>
          <p:cNvPicPr>
            <a:picLocks noChangeAspect="1"/>
          </p:cNvPicPr>
          <p:nvPr/>
        </p:nvPicPr>
        <p:blipFill>
          <a:blip r:embed="rId11"/>
          <a:stretch>
            <a:fillRect/>
          </a:stretch>
        </p:blipFill>
        <p:spPr>
          <a:xfrm>
            <a:off x="6748272" y="3602736"/>
            <a:ext cx="237744" cy="237744"/>
          </a:xfrm>
          <a:prstGeom prst="rect">
            <a:avLst/>
          </a:prstGeom>
        </p:spPr>
      </p:pic>
      <p:sp>
        <p:nvSpPr>
          <p:cNvPr id="44" name="text-41"/>
          <p:cNvSpPr txBox="1"/>
          <p:nvPr/>
        </p:nvSpPr>
        <p:spPr>
          <a:xfrm>
            <a:off x="7077456" y="3502152"/>
            <a:ext cx="1252728" cy="237744"/>
          </a:xfrm>
          <a:prstGeom prst="rect">
            <a:avLst/>
          </a:prstGeom>
          <a:noFill/>
          <a:ln/>
        </p:spPr>
        <p:txBody>
          <a:bodyPr wrap="square" lIns="0" tIns="0" rIns="0" bIns="0" rtlCol="0" anchor="t"/>
          <a:lstStyle/>
          <a:p>
            <a:pPr algn="l" indent="0" marL="0">
              <a:buNone/>
            </a:pPr>
            <a:r>
              <a:rPr lang="en-US" sz="1250" b="1" dirty="0">
                <a:solidFill>
                  <a:schemeClr val="bg1"/>
                </a:solidFill>
              </a:rPr>
              <a:t>backend</a:t>
            </a:r>
            <a:endParaRPr lang="en-US" sz="1250" dirty="0"/>
          </a:p>
        </p:txBody>
      </p:sp>
      <p:sp>
        <p:nvSpPr>
          <p:cNvPr id="45" name="text-42"/>
          <p:cNvSpPr txBox="1"/>
          <p:nvPr/>
        </p:nvSpPr>
        <p:spPr>
          <a:xfrm>
            <a:off x="7077456" y="3730752"/>
            <a:ext cx="1252728" cy="219456"/>
          </a:xfrm>
          <a:prstGeom prst="rect">
            <a:avLst/>
          </a:prstGeom>
          <a:noFill/>
          <a:ln/>
        </p:spPr>
        <p:txBody>
          <a:bodyPr wrap="square" lIns="0" tIns="0" rIns="0" bIns="0" rtlCol="0" anchor="t"/>
          <a:lstStyle/>
          <a:p>
            <a:pPr algn="l" indent="0" marL="0">
              <a:buNone/>
            </a:pPr>
            <a:r>
              <a:rPr lang="en-US" sz="1050" dirty="0">
                <a:solidFill>
                  <a:schemeClr val="bg2"/>
                </a:solidFill>
              </a:rPr>
              <a:t>read-only filesystem</a:t>
            </a:r>
            <a:endParaRPr lang="en-US" sz="1050" dirty="0"/>
          </a:p>
        </p:txBody>
      </p:sp>
      <p:sp>
        <p:nvSpPr>
          <p:cNvPr id="46" name="text-43"/>
          <p:cNvSpPr txBox="1"/>
          <p:nvPr/>
        </p:nvSpPr>
        <p:spPr>
          <a:xfrm>
            <a:off x="6638544" y="4087368"/>
            <a:ext cx="1728216" cy="384048"/>
          </a:xfrm>
          <a:prstGeom prst="rect">
            <a:avLst/>
          </a:prstGeom>
          <a:noFill/>
          <a:ln/>
        </p:spPr>
        <p:txBody>
          <a:bodyPr wrap="square" lIns="0" tIns="0" rIns="0" bIns="0" rtlCol="0" anchor="t"/>
          <a:lstStyle/>
          <a:p>
            <a:pPr algn="l" indent="0" marL="0">
              <a:buNone/>
            </a:pPr>
            <a:r>
              <a:rPr lang="en-US" sz="1100" b="1" dirty="0">
                <a:solidFill>
                  <a:schemeClr val="accent1"/>
                </a:solidFill>
              </a:rPr>
              <a:t>no volumes · no .env</a:t>
            </a:r>
            <a:endParaRPr lang="en-US" sz="1100" dirty="0"/>
          </a:p>
          <a:p>
            <a:pPr algn="l" indent="0" marL="0">
              <a:buNone/>
            </a:pPr>
            <a:r>
              <a:rPr lang="en-US" sz="1100" b="1" dirty="0">
                <a:solidFill>
                  <a:schemeClr val="accent1"/>
                </a:solidFill>
              </a:rPr>
              <a:t>no key files</a:t>
            </a:r>
            <a:endParaRPr lang="en-US" sz="1100" dirty="0"/>
          </a:p>
        </p:txBody>
      </p:sp>
      <p:sp>
        <p:nvSpPr>
          <p:cNvPr id="47" name="managed-service-44"/>
          <p:cNvSpPr/>
          <p:nvPr/>
        </p:nvSpPr>
        <p:spPr>
          <a:xfrm>
            <a:off x="8942832" y="2331720"/>
            <a:ext cx="2423160" cy="676656"/>
          </a:xfrm>
          <a:prstGeom prst="roundRect">
            <a:avLst>
              <a:gd name="adj" fmla="val 10811"/>
            </a:avLst>
          </a:prstGeom>
          <a:solidFill>
            <a:schemeClr val="accent4"/>
          </a:solidFill>
          <a:ln w="9525">
            <a:solidFill>
              <a:schemeClr val="accent1"/>
            </a:solidFill>
            <a:prstDash val="solid"/>
          </a:ln>
        </p:spPr>
      </p:sp>
      <p:pic>
        <p:nvPicPr>
          <p:cNvPr id="48" name="icon-45" descr="preencoded.png">    </p:cNvPr>
          <p:cNvPicPr>
            <a:picLocks noChangeAspect="1"/>
          </p:cNvPicPr>
          <p:nvPr/>
        </p:nvPicPr>
        <p:blipFill>
          <a:blip r:embed="rId12"/>
          <a:stretch>
            <a:fillRect/>
          </a:stretch>
        </p:blipFill>
        <p:spPr>
          <a:xfrm>
            <a:off x="9070848" y="2532888"/>
            <a:ext cx="274320" cy="274320"/>
          </a:xfrm>
          <a:prstGeom prst="rect">
            <a:avLst/>
          </a:prstGeom>
        </p:spPr>
      </p:pic>
      <p:sp>
        <p:nvSpPr>
          <p:cNvPr id="49" name="text-46"/>
          <p:cNvSpPr txBox="1"/>
          <p:nvPr/>
        </p:nvSpPr>
        <p:spPr>
          <a:xfrm>
            <a:off x="9436608" y="2423160"/>
            <a:ext cx="1856232" cy="256032"/>
          </a:xfrm>
          <a:prstGeom prst="rect">
            <a:avLst/>
          </a:prstGeom>
          <a:noFill/>
          <a:ln/>
        </p:spPr>
        <p:txBody>
          <a:bodyPr wrap="square" lIns="0" tIns="0" rIns="0" bIns="0" rtlCol="0" anchor="t"/>
          <a:lstStyle/>
          <a:p>
            <a:pPr algn="l" indent="0" marL="0">
              <a:buNone/>
            </a:pPr>
            <a:r>
              <a:rPr lang="en-US" sz="1300" b="1" dirty="0">
                <a:solidFill>
                  <a:schemeClr val="bg1"/>
                </a:solidFill>
              </a:rPr>
              <a:t>Cloud SQL</a:t>
            </a:r>
            <a:endParaRPr lang="en-US" sz="1300" dirty="0"/>
          </a:p>
        </p:txBody>
      </p:sp>
      <p:sp>
        <p:nvSpPr>
          <p:cNvPr id="50" name="text-47"/>
          <p:cNvSpPr txBox="1"/>
          <p:nvPr/>
        </p:nvSpPr>
        <p:spPr>
          <a:xfrm>
            <a:off x="9436608" y="2688336"/>
            <a:ext cx="1856232" cy="237744"/>
          </a:xfrm>
          <a:prstGeom prst="rect">
            <a:avLst/>
          </a:prstGeom>
          <a:noFill/>
          <a:ln/>
        </p:spPr>
        <p:txBody>
          <a:bodyPr wrap="square" lIns="0" tIns="0" rIns="0" bIns="0" rtlCol="0" anchor="t"/>
          <a:lstStyle/>
          <a:p>
            <a:pPr algn="l" indent="0" marL="0">
              <a:buNone/>
            </a:pPr>
            <a:r>
              <a:rPr lang="en-US" sz="1050" dirty="0">
                <a:solidFill>
                  <a:schemeClr val="bg2"/>
                </a:solidFill>
              </a:rPr>
              <a:t>PostgreSQL 16 · private IP only</a:t>
            </a:r>
            <a:endParaRPr lang="en-US" sz="1050" dirty="0"/>
          </a:p>
        </p:txBody>
      </p:sp>
      <p:sp>
        <p:nvSpPr>
          <p:cNvPr id="51" name="arrow-48"/>
          <p:cNvSpPr/>
          <p:nvPr/>
        </p:nvSpPr>
        <p:spPr>
          <a:xfrm>
            <a:off x="8531352" y="2670048"/>
            <a:ext cx="384048" cy="91"/>
          </a:xfrm>
          <a:prstGeom prst="line">
            <a:avLst/>
          </a:prstGeom>
          <a:noFill/>
          <a:ln w="15875">
            <a:solidFill>
              <a:schemeClr val="accent1"/>
            </a:solidFill>
            <a:prstDash val="solid"/>
            <a:tailEnd type="triangle"/>
          </a:ln>
        </p:spPr>
      </p:sp>
      <p:sp>
        <p:nvSpPr>
          <p:cNvPr id="52" name="managed-service-49"/>
          <p:cNvSpPr/>
          <p:nvPr/>
        </p:nvSpPr>
        <p:spPr>
          <a:xfrm>
            <a:off x="8942832" y="3090672"/>
            <a:ext cx="2423160" cy="676656"/>
          </a:xfrm>
          <a:prstGeom prst="roundRect">
            <a:avLst>
              <a:gd name="adj" fmla="val 10811"/>
            </a:avLst>
          </a:prstGeom>
          <a:solidFill>
            <a:schemeClr val="accent4"/>
          </a:solidFill>
          <a:ln w="9525">
            <a:solidFill>
              <a:schemeClr val="accent1"/>
            </a:solidFill>
            <a:prstDash val="solid"/>
          </a:ln>
        </p:spPr>
      </p:sp>
      <p:pic>
        <p:nvPicPr>
          <p:cNvPr id="53" name="icon-50" descr="preencoded.png">    </p:cNvPr>
          <p:cNvPicPr>
            <a:picLocks noChangeAspect="1"/>
          </p:cNvPicPr>
          <p:nvPr/>
        </p:nvPicPr>
        <p:blipFill>
          <a:blip r:embed="rId13"/>
          <a:stretch>
            <a:fillRect/>
          </a:stretch>
        </p:blipFill>
        <p:spPr>
          <a:xfrm>
            <a:off x="9070848" y="3291840"/>
            <a:ext cx="274320" cy="274320"/>
          </a:xfrm>
          <a:prstGeom prst="rect">
            <a:avLst/>
          </a:prstGeom>
        </p:spPr>
      </p:pic>
      <p:sp>
        <p:nvSpPr>
          <p:cNvPr id="54" name="text-51"/>
          <p:cNvSpPr txBox="1"/>
          <p:nvPr/>
        </p:nvSpPr>
        <p:spPr>
          <a:xfrm>
            <a:off x="9436608" y="3182112"/>
            <a:ext cx="1856232" cy="256032"/>
          </a:xfrm>
          <a:prstGeom prst="rect">
            <a:avLst/>
          </a:prstGeom>
          <a:noFill/>
          <a:ln/>
        </p:spPr>
        <p:txBody>
          <a:bodyPr wrap="square" lIns="0" tIns="0" rIns="0" bIns="0" rtlCol="0" anchor="t"/>
          <a:lstStyle/>
          <a:p>
            <a:pPr algn="l" indent="0" marL="0">
              <a:buNone/>
            </a:pPr>
            <a:r>
              <a:rPr lang="en-US" sz="1300" b="1" dirty="0">
                <a:solidFill>
                  <a:schemeClr val="bg1"/>
                </a:solidFill>
              </a:rPr>
              <a:t>Cloud Storage</a:t>
            </a:r>
            <a:endParaRPr lang="en-US" sz="1300" dirty="0"/>
          </a:p>
        </p:txBody>
      </p:sp>
      <p:sp>
        <p:nvSpPr>
          <p:cNvPr id="55" name="text-52"/>
          <p:cNvSpPr txBox="1"/>
          <p:nvPr/>
        </p:nvSpPr>
        <p:spPr>
          <a:xfrm>
            <a:off x="9436608" y="3447288"/>
            <a:ext cx="1856232" cy="237744"/>
          </a:xfrm>
          <a:prstGeom prst="rect">
            <a:avLst/>
          </a:prstGeom>
          <a:noFill/>
          <a:ln/>
        </p:spPr>
        <p:txBody>
          <a:bodyPr wrap="square" lIns="0" tIns="0" rIns="0" bIns="0" rtlCol="0" anchor="t"/>
          <a:lstStyle/>
          <a:p>
            <a:pPr algn="l" indent="0" marL="0">
              <a:buNone/>
            </a:pPr>
            <a:r>
              <a:rPr lang="en-US" sz="1050" dirty="0">
                <a:solidFill>
                  <a:schemeClr val="bg2"/>
                </a:solidFill>
              </a:rPr>
              <a:t>gs://gridpulse-509202-uploads</a:t>
            </a:r>
            <a:endParaRPr lang="en-US" sz="1050" dirty="0"/>
          </a:p>
        </p:txBody>
      </p:sp>
      <p:sp>
        <p:nvSpPr>
          <p:cNvPr id="56" name="arrow-53"/>
          <p:cNvSpPr/>
          <p:nvPr/>
        </p:nvSpPr>
        <p:spPr>
          <a:xfrm>
            <a:off x="8531352" y="3429000"/>
            <a:ext cx="384048" cy="91"/>
          </a:xfrm>
          <a:prstGeom prst="line">
            <a:avLst/>
          </a:prstGeom>
          <a:noFill/>
          <a:ln w="15875">
            <a:solidFill>
              <a:schemeClr val="accent1"/>
            </a:solidFill>
            <a:prstDash val="solid"/>
            <a:tailEnd type="triangle"/>
          </a:ln>
        </p:spPr>
      </p:sp>
      <p:sp>
        <p:nvSpPr>
          <p:cNvPr id="57" name="managed-service-54"/>
          <p:cNvSpPr/>
          <p:nvPr/>
        </p:nvSpPr>
        <p:spPr>
          <a:xfrm>
            <a:off x="8942832" y="3849624"/>
            <a:ext cx="2423160" cy="676656"/>
          </a:xfrm>
          <a:prstGeom prst="roundRect">
            <a:avLst>
              <a:gd name="adj" fmla="val 10811"/>
            </a:avLst>
          </a:prstGeom>
          <a:solidFill>
            <a:schemeClr val="accent4"/>
          </a:solidFill>
          <a:ln w="9525">
            <a:solidFill>
              <a:schemeClr val="accent1"/>
            </a:solidFill>
            <a:prstDash val="solid"/>
          </a:ln>
        </p:spPr>
      </p:sp>
      <p:pic>
        <p:nvPicPr>
          <p:cNvPr id="58" name="icon-55" descr="preencoded.png">    </p:cNvPr>
          <p:cNvPicPr>
            <a:picLocks noChangeAspect="1"/>
          </p:cNvPicPr>
          <p:nvPr/>
        </p:nvPicPr>
        <p:blipFill>
          <a:blip r:embed="rId14"/>
          <a:stretch>
            <a:fillRect/>
          </a:stretch>
        </p:blipFill>
        <p:spPr>
          <a:xfrm>
            <a:off x="9070848" y="4050792"/>
            <a:ext cx="274320" cy="274320"/>
          </a:xfrm>
          <a:prstGeom prst="rect">
            <a:avLst/>
          </a:prstGeom>
        </p:spPr>
      </p:pic>
      <p:sp>
        <p:nvSpPr>
          <p:cNvPr id="59" name="text-56"/>
          <p:cNvSpPr txBox="1"/>
          <p:nvPr/>
        </p:nvSpPr>
        <p:spPr>
          <a:xfrm>
            <a:off x="9436608" y="3941064"/>
            <a:ext cx="1856232" cy="256032"/>
          </a:xfrm>
          <a:prstGeom prst="rect">
            <a:avLst/>
          </a:prstGeom>
          <a:noFill/>
          <a:ln/>
        </p:spPr>
        <p:txBody>
          <a:bodyPr wrap="square" lIns="0" tIns="0" rIns="0" bIns="0" rtlCol="0" anchor="t"/>
          <a:lstStyle/>
          <a:p>
            <a:pPr algn="l" indent="0" marL="0">
              <a:buNone/>
            </a:pPr>
            <a:r>
              <a:rPr lang="en-US" sz="1300" b="1" dirty="0">
                <a:solidFill>
                  <a:schemeClr val="bg1"/>
                </a:solidFill>
              </a:rPr>
              <a:t>Secret Manager</a:t>
            </a:r>
            <a:endParaRPr lang="en-US" sz="1300" dirty="0"/>
          </a:p>
        </p:txBody>
      </p:sp>
      <p:sp>
        <p:nvSpPr>
          <p:cNvPr id="60" name="text-57"/>
          <p:cNvSpPr txBox="1"/>
          <p:nvPr/>
        </p:nvSpPr>
        <p:spPr>
          <a:xfrm>
            <a:off x="9436608" y="4206240"/>
            <a:ext cx="1856232" cy="237744"/>
          </a:xfrm>
          <a:prstGeom prst="rect">
            <a:avLst/>
          </a:prstGeom>
          <a:noFill/>
          <a:ln/>
        </p:spPr>
        <p:txBody>
          <a:bodyPr wrap="square" lIns="0" tIns="0" rIns="0" bIns="0" rtlCol="0" anchor="t"/>
          <a:lstStyle/>
          <a:p>
            <a:pPr algn="l" indent="0" marL="0">
              <a:buNone/>
            </a:pPr>
            <a:r>
              <a:rPr lang="en-US" sz="1050" dirty="0">
                <a:solidFill>
                  <a:schemeClr val="bg2"/>
                </a:solidFill>
              </a:rPr>
              <a:t>gridpulse-db-password</a:t>
            </a:r>
            <a:endParaRPr lang="en-US" sz="1050" dirty="0"/>
          </a:p>
        </p:txBody>
      </p:sp>
      <p:sp>
        <p:nvSpPr>
          <p:cNvPr id="61" name="arrow-58"/>
          <p:cNvSpPr/>
          <p:nvPr/>
        </p:nvSpPr>
        <p:spPr>
          <a:xfrm>
            <a:off x="8531352" y="4187952"/>
            <a:ext cx="384048" cy="91"/>
          </a:xfrm>
          <a:prstGeom prst="line">
            <a:avLst/>
          </a:prstGeom>
          <a:noFill/>
          <a:ln w="15875">
            <a:solidFill>
              <a:schemeClr val="accent1"/>
            </a:solidFill>
            <a:prstDash val="solid"/>
            <a:tailEnd type="triangle"/>
          </a:ln>
        </p:spPr>
      </p:sp>
      <p:pic>
        <p:nvPicPr>
          <p:cNvPr id="62" name="icon-59" descr="preencoded.png">    </p:cNvPr>
          <p:cNvPicPr>
            <a:picLocks noChangeAspect="1"/>
          </p:cNvPicPr>
          <p:nvPr/>
        </p:nvPicPr>
        <p:blipFill>
          <a:blip r:embed="rId15"/>
          <a:stretch>
            <a:fillRect/>
          </a:stretch>
        </p:blipFill>
        <p:spPr>
          <a:xfrm>
            <a:off x="6473952" y="4672584"/>
            <a:ext cx="237744" cy="237744"/>
          </a:xfrm>
          <a:prstGeom prst="rect">
            <a:avLst/>
          </a:prstGeom>
        </p:spPr>
      </p:pic>
      <p:sp>
        <p:nvSpPr>
          <p:cNvPr id="63" name="text-60"/>
          <p:cNvSpPr txBox="1"/>
          <p:nvPr/>
        </p:nvSpPr>
        <p:spPr>
          <a:xfrm>
            <a:off x="6821424" y="4645152"/>
            <a:ext cx="4617720" cy="292608"/>
          </a:xfrm>
          <a:prstGeom prst="rect">
            <a:avLst/>
          </a:prstGeom>
          <a:noFill/>
          <a:ln/>
        </p:spPr>
        <p:txBody>
          <a:bodyPr wrap="square" lIns="0" tIns="0" rIns="0" bIns="0" rtlCol="0" anchor="ctr"/>
          <a:lstStyle/>
          <a:p>
            <a:pPr algn="l" indent="0" marL="0">
              <a:buNone/>
            </a:pPr>
            <a:r>
              <a:rPr lang="en-US" sz="1250" i="1" dirty="0">
                <a:solidFill>
                  <a:schemeClr val="accent1"/>
                </a:solidFill>
              </a:rPr>
              <a:t>Delete the VM: only downtime. Data, files, secrets and images live on.</a:t>
            </a:r>
            <a:endParaRPr lang="en-US" sz="1250" dirty="0"/>
          </a:p>
        </p:txBody>
      </p:sp>
      <p:sp>
        <p:nvSpPr>
          <p:cNvPr id="64" name="moved-card-61"/>
          <p:cNvSpPr/>
          <p:nvPr/>
        </p:nvSpPr>
        <p:spPr>
          <a:xfrm>
            <a:off x="548640" y="5349240"/>
            <a:ext cx="2649474" cy="1005840"/>
          </a:xfrm>
          <a:prstGeom prst="roundRect">
            <a:avLst>
              <a:gd name="adj" fmla="val 7273"/>
            </a:avLst>
          </a:prstGeom>
          <a:solidFill>
            <a:schemeClr val="tx2"/>
          </a:solidFill>
          <a:ln w="9525">
            <a:solidFill>
              <a:schemeClr val="accent3"/>
            </a:solidFill>
            <a:prstDash val="solid"/>
          </a:ln>
        </p:spPr>
      </p:sp>
      <p:pic>
        <p:nvPicPr>
          <p:cNvPr id="65" name="icon-62" descr="preencoded.png">    </p:cNvPr>
          <p:cNvPicPr>
            <a:picLocks noChangeAspect="1"/>
          </p:cNvPicPr>
          <p:nvPr/>
        </p:nvPicPr>
        <p:blipFill>
          <a:blip r:embed="rId16"/>
          <a:stretch>
            <a:fillRect/>
          </a:stretch>
        </p:blipFill>
        <p:spPr>
          <a:xfrm>
            <a:off x="731520" y="5532120"/>
            <a:ext cx="292608" cy="292608"/>
          </a:xfrm>
          <a:prstGeom prst="rect">
            <a:avLst/>
          </a:prstGeom>
        </p:spPr>
      </p:pic>
      <p:sp>
        <p:nvSpPr>
          <p:cNvPr id="66" name="text-63"/>
          <p:cNvSpPr txBox="1"/>
          <p:nvPr/>
        </p:nvSpPr>
        <p:spPr>
          <a:xfrm>
            <a:off x="1152144" y="5495544"/>
            <a:ext cx="1917954" cy="292608"/>
          </a:xfrm>
          <a:prstGeom prst="rect">
            <a:avLst/>
          </a:prstGeom>
          <a:noFill/>
          <a:ln/>
        </p:spPr>
        <p:txBody>
          <a:bodyPr wrap="square" lIns="0" tIns="0" rIns="0" bIns="0" rtlCol="0" anchor="ctr"/>
          <a:lstStyle/>
          <a:p>
            <a:pPr algn="l" indent="0" marL="0">
              <a:buNone/>
            </a:pPr>
            <a:r>
              <a:rPr lang="en-US" sz="1400" b="1" dirty="0">
                <a:solidFill>
                  <a:schemeClr val="bg1"/>
                </a:solidFill>
              </a:rPr>
              <a:t>Database</a:t>
            </a:r>
            <a:endParaRPr lang="en-US" sz="1400" dirty="0"/>
          </a:p>
        </p:txBody>
      </p:sp>
      <p:sp>
        <p:nvSpPr>
          <p:cNvPr id="67" name="text-64"/>
          <p:cNvSpPr txBox="1"/>
          <p:nvPr/>
        </p:nvSpPr>
        <p:spPr>
          <a:xfrm>
            <a:off x="1152144" y="5806440"/>
            <a:ext cx="1917954" cy="457200"/>
          </a:xfrm>
          <a:prstGeom prst="rect">
            <a:avLst/>
          </a:prstGeom>
          <a:noFill/>
          <a:ln/>
        </p:spPr>
        <p:txBody>
          <a:bodyPr wrap="square" lIns="0" tIns="0" rIns="0" bIns="0" rtlCol="0" anchor="t"/>
          <a:lstStyle/>
          <a:p>
            <a:pPr algn="l" indent="0" marL="0">
              <a:buNone/>
            </a:pPr>
            <a:r>
              <a:rPr lang="en-US" sz="1100" dirty="0">
                <a:solidFill>
                  <a:schemeClr val="bg2"/>
                </a:solidFill>
              </a:rPr>
              <a:t>pgdata volume  →  Cloud SQL, private IP, TLS required</a:t>
            </a:r>
            <a:endParaRPr lang="en-US" sz="1100" dirty="0"/>
          </a:p>
        </p:txBody>
      </p:sp>
      <p:sp>
        <p:nvSpPr>
          <p:cNvPr id="68" name="moved-card-65"/>
          <p:cNvSpPr/>
          <p:nvPr/>
        </p:nvSpPr>
        <p:spPr>
          <a:xfrm>
            <a:off x="3362706" y="5349240"/>
            <a:ext cx="2649474" cy="1005840"/>
          </a:xfrm>
          <a:prstGeom prst="roundRect">
            <a:avLst>
              <a:gd name="adj" fmla="val 7273"/>
            </a:avLst>
          </a:prstGeom>
          <a:solidFill>
            <a:schemeClr val="tx2"/>
          </a:solidFill>
          <a:ln w="9525">
            <a:solidFill>
              <a:schemeClr val="accent3"/>
            </a:solidFill>
            <a:prstDash val="solid"/>
          </a:ln>
        </p:spPr>
      </p:sp>
      <p:pic>
        <p:nvPicPr>
          <p:cNvPr id="69" name="icon-66" descr="preencoded.png">    </p:cNvPr>
          <p:cNvPicPr>
            <a:picLocks noChangeAspect="1"/>
          </p:cNvPicPr>
          <p:nvPr/>
        </p:nvPicPr>
        <p:blipFill>
          <a:blip r:embed="rId17"/>
          <a:stretch>
            <a:fillRect/>
          </a:stretch>
        </p:blipFill>
        <p:spPr>
          <a:xfrm>
            <a:off x="3545586" y="5532120"/>
            <a:ext cx="292608" cy="292608"/>
          </a:xfrm>
          <a:prstGeom prst="rect">
            <a:avLst/>
          </a:prstGeom>
        </p:spPr>
      </p:pic>
      <p:sp>
        <p:nvSpPr>
          <p:cNvPr id="70" name="text-67"/>
          <p:cNvSpPr txBox="1"/>
          <p:nvPr/>
        </p:nvSpPr>
        <p:spPr>
          <a:xfrm>
            <a:off x="3966210" y="5495544"/>
            <a:ext cx="1917954" cy="292608"/>
          </a:xfrm>
          <a:prstGeom prst="rect">
            <a:avLst/>
          </a:prstGeom>
          <a:noFill/>
          <a:ln/>
        </p:spPr>
        <p:txBody>
          <a:bodyPr wrap="square" lIns="0" tIns="0" rIns="0" bIns="0" rtlCol="0" anchor="ctr"/>
          <a:lstStyle/>
          <a:p>
            <a:pPr algn="l" indent="0" marL="0">
              <a:buNone/>
            </a:pPr>
            <a:r>
              <a:rPr lang="en-US" sz="1400" b="1" dirty="0">
                <a:solidFill>
                  <a:schemeClr val="bg1"/>
                </a:solidFill>
              </a:rPr>
              <a:t>Uploaded PDFs</a:t>
            </a:r>
            <a:endParaRPr lang="en-US" sz="1400" dirty="0"/>
          </a:p>
        </p:txBody>
      </p:sp>
      <p:sp>
        <p:nvSpPr>
          <p:cNvPr id="71" name="text-68"/>
          <p:cNvSpPr txBox="1"/>
          <p:nvPr/>
        </p:nvSpPr>
        <p:spPr>
          <a:xfrm>
            <a:off x="3966210" y="5806440"/>
            <a:ext cx="1917954" cy="457200"/>
          </a:xfrm>
          <a:prstGeom prst="rect">
            <a:avLst/>
          </a:prstGeom>
          <a:noFill/>
          <a:ln/>
        </p:spPr>
        <p:txBody>
          <a:bodyPr wrap="square" lIns="0" tIns="0" rIns="0" bIns="0" rtlCol="0" anchor="t"/>
          <a:lstStyle/>
          <a:p>
            <a:pPr algn="l" indent="0" marL="0">
              <a:buNone/>
            </a:pPr>
            <a:r>
              <a:rPr lang="en-US" sz="1100" dirty="0">
                <a:solidFill>
                  <a:schemeClr val="bg2"/>
                </a:solidFill>
              </a:rPr>
              <a:t>uploads volume  →  Cloud Storage bucket</a:t>
            </a:r>
            <a:endParaRPr lang="en-US" sz="1100" dirty="0"/>
          </a:p>
        </p:txBody>
      </p:sp>
      <p:sp>
        <p:nvSpPr>
          <p:cNvPr id="72" name="moved-card-69"/>
          <p:cNvSpPr/>
          <p:nvPr/>
        </p:nvSpPr>
        <p:spPr>
          <a:xfrm>
            <a:off x="6176772" y="5349240"/>
            <a:ext cx="2649474" cy="1005840"/>
          </a:xfrm>
          <a:prstGeom prst="roundRect">
            <a:avLst>
              <a:gd name="adj" fmla="val 7273"/>
            </a:avLst>
          </a:prstGeom>
          <a:solidFill>
            <a:schemeClr val="tx2"/>
          </a:solidFill>
          <a:ln w="9525">
            <a:solidFill>
              <a:schemeClr val="accent3"/>
            </a:solidFill>
            <a:prstDash val="solid"/>
          </a:ln>
        </p:spPr>
      </p:sp>
      <p:pic>
        <p:nvPicPr>
          <p:cNvPr id="73" name="icon-70" descr="preencoded.png">    </p:cNvPr>
          <p:cNvPicPr>
            <a:picLocks noChangeAspect="1"/>
          </p:cNvPicPr>
          <p:nvPr/>
        </p:nvPicPr>
        <p:blipFill>
          <a:blip r:embed="rId18"/>
          <a:stretch>
            <a:fillRect/>
          </a:stretch>
        </p:blipFill>
        <p:spPr>
          <a:xfrm>
            <a:off x="6359652" y="5532120"/>
            <a:ext cx="292608" cy="292608"/>
          </a:xfrm>
          <a:prstGeom prst="rect">
            <a:avLst/>
          </a:prstGeom>
        </p:spPr>
      </p:pic>
      <p:sp>
        <p:nvSpPr>
          <p:cNvPr id="74" name="text-71"/>
          <p:cNvSpPr txBox="1"/>
          <p:nvPr/>
        </p:nvSpPr>
        <p:spPr>
          <a:xfrm>
            <a:off x="6780276" y="5495544"/>
            <a:ext cx="1917954" cy="292608"/>
          </a:xfrm>
          <a:prstGeom prst="rect">
            <a:avLst/>
          </a:prstGeom>
          <a:noFill/>
          <a:ln/>
        </p:spPr>
        <p:txBody>
          <a:bodyPr wrap="square" lIns="0" tIns="0" rIns="0" bIns="0" rtlCol="0" anchor="ctr"/>
          <a:lstStyle/>
          <a:p>
            <a:pPr algn="l" indent="0" marL="0">
              <a:buNone/>
            </a:pPr>
            <a:r>
              <a:rPr lang="en-US" sz="1400" b="1" dirty="0">
                <a:solidFill>
                  <a:schemeClr val="bg1"/>
                </a:solidFill>
              </a:rPr>
              <a:t>DB password</a:t>
            </a:r>
            <a:endParaRPr lang="en-US" sz="1400" dirty="0"/>
          </a:p>
        </p:txBody>
      </p:sp>
      <p:sp>
        <p:nvSpPr>
          <p:cNvPr id="75" name="text-72"/>
          <p:cNvSpPr txBox="1"/>
          <p:nvPr/>
        </p:nvSpPr>
        <p:spPr>
          <a:xfrm>
            <a:off x="6780276" y="5806440"/>
            <a:ext cx="1917954" cy="457200"/>
          </a:xfrm>
          <a:prstGeom prst="rect">
            <a:avLst/>
          </a:prstGeom>
          <a:noFill/>
          <a:ln/>
        </p:spPr>
        <p:txBody>
          <a:bodyPr wrap="square" lIns="0" tIns="0" rIns="0" bIns="0" rtlCol="0" anchor="t"/>
          <a:lstStyle/>
          <a:p>
            <a:pPr algn="l" indent="0" marL="0">
              <a:buNone/>
            </a:pPr>
            <a:r>
              <a:rPr lang="en-US" sz="1100" dirty="0">
                <a:solidFill>
                  <a:schemeClr val="bg2"/>
                </a:solidFill>
              </a:rPr>
              <a:t>.env file  →  Secret Manager, read at runtime</a:t>
            </a:r>
            <a:endParaRPr lang="en-US" sz="1100" dirty="0"/>
          </a:p>
        </p:txBody>
      </p:sp>
      <p:sp>
        <p:nvSpPr>
          <p:cNvPr id="76" name="moved-card-73"/>
          <p:cNvSpPr/>
          <p:nvPr/>
        </p:nvSpPr>
        <p:spPr>
          <a:xfrm>
            <a:off x="8990838" y="5349240"/>
            <a:ext cx="2649474" cy="1005840"/>
          </a:xfrm>
          <a:prstGeom prst="roundRect">
            <a:avLst>
              <a:gd name="adj" fmla="val 7273"/>
            </a:avLst>
          </a:prstGeom>
          <a:solidFill>
            <a:schemeClr val="tx2"/>
          </a:solidFill>
          <a:ln w="9525">
            <a:solidFill>
              <a:schemeClr val="accent3"/>
            </a:solidFill>
            <a:prstDash val="solid"/>
          </a:ln>
        </p:spPr>
      </p:sp>
      <p:pic>
        <p:nvPicPr>
          <p:cNvPr id="77" name="icon-74" descr="preencoded.png">    </p:cNvPr>
          <p:cNvPicPr>
            <a:picLocks noChangeAspect="1"/>
          </p:cNvPicPr>
          <p:nvPr/>
        </p:nvPicPr>
        <p:blipFill>
          <a:blip r:embed="rId19"/>
          <a:stretch>
            <a:fillRect/>
          </a:stretch>
        </p:blipFill>
        <p:spPr>
          <a:xfrm>
            <a:off x="9173718" y="5532120"/>
            <a:ext cx="292608" cy="292608"/>
          </a:xfrm>
          <a:prstGeom prst="rect">
            <a:avLst/>
          </a:prstGeom>
        </p:spPr>
      </p:pic>
      <p:sp>
        <p:nvSpPr>
          <p:cNvPr id="78" name="text-75"/>
          <p:cNvSpPr txBox="1"/>
          <p:nvPr/>
        </p:nvSpPr>
        <p:spPr>
          <a:xfrm>
            <a:off x="9594342" y="5495544"/>
            <a:ext cx="1917954" cy="292608"/>
          </a:xfrm>
          <a:prstGeom prst="rect">
            <a:avLst/>
          </a:prstGeom>
          <a:noFill/>
          <a:ln/>
        </p:spPr>
        <p:txBody>
          <a:bodyPr wrap="square" lIns="0" tIns="0" rIns="0" bIns="0" rtlCol="0" anchor="ctr"/>
          <a:lstStyle/>
          <a:p>
            <a:pPr algn="l" indent="0" marL="0">
              <a:buNone/>
            </a:pPr>
            <a:r>
              <a:rPr lang="en-US" sz="1400" b="1" dirty="0">
                <a:solidFill>
                  <a:schemeClr val="bg1"/>
                </a:solidFill>
              </a:rPr>
              <a:t>Schema</a:t>
            </a:r>
            <a:endParaRPr lang="en-US" sz="1400" dirty="0"/>
          </a:p>
        </p:txBody>
      </p:sp>
      <p:sp>
        <p:nvSpPr>
          <p:cNvPr id="79" name="text-76"/>
          <p:cNvSpPr txBox="1"/>
          <p:nvPr/>
        </p:nvSpPr>
        <p:spPr>
          <a:xfrm>
            <a:off x="9594342" y="5806440"/>
            <a:ext cx="1917954" cy="457200"/>
          </a:xfrm>
          <a:prstGeom prst="rect">
            <a:avLst/>
          </a:prstGeom>
          <a:noFill/>
          <a:ln/>
        </p:spPr>
        <p:txBody>
          <a:bodyPr wrap="square" lIns="0" tIns="0" rIns="0" bIns="0" rtlCol="0" anchor="t"/>
          <a:lstStyle/>
          <a:p>
            <a:pPr algn="l" indent="0" marL="0">
              <a:buNone/>
            </a:pPr>
            <a:r>
              <a:rPr lang="en-US" sz="1100" dirty="0">
                <a:solidFill>
                  <a:schemeClr val="bg2"/>
                </a:solidFill>
              </a:rPr>
              <a:t>create_all()  →  Alembic migration 0001_initial_schema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Identity and network</a:t>
            </a:r>
            <a:endParaRPr lang="en-US" sz="3400" dirty="0"/>
          </a:p>
        </p:txBody>
      </p:sp>
      <p:sp>
        <p:nvSpPr>
          <p:cNvPr id="3" name="Text 0"/>
          <p:cNvSpPr/>
          <p:nvPr>
            <p:ph idx="101" type="body" hasCustomPrompt="1"/>
          </p:nvPr>
        </p:nvSpPr>
        <p:spPr>
          <a:xfrm>
            <a:off x="548640" y="987552"/>
            <a:ext cx="11091672" cy="365760"/>
          </a:xfrm>
          <a:prstGeom prst="rect">
            <a:avLst/>
          </a:prstGeom>
          <a:noFill/>
          <a:ln/>
        </p:spPr>
        <p:txBody>
          <a:bodyPr wrap="square" lIns="0" tIns="0" rIns="0" bIns="0" rtlCol="0" anchor="ctr"/>
          <a:lstStyle/>
          <a:p>
            <a:pPr algn="l" indent="0" marL="0">
              <a:buNone/>
            </a:pPr>
            <a:r>
              <a:rPr lang="en-US" sz="1500" dirty="0">
                <a:solidFill>
                  <a:schemeClr val="bg2"/>
                </a:solidFill>
                <a:latin typeface="Calibri" pitchFamily="34" charset="0"/>
                <a:ea typeface="Calibri" pitchFamily="34" charset="-122"/>
                <a:cs typeface="Calibri" pitchFamily="34" charset="-120"/>
              </a:rPr>
              <a:t>One least-privilege service account with no key files. The only public address is the VM's, and only team IPs can reach it.</a:t>
            </a:r>
            <a:endParaRPr lang="en-US" sz="1500" dirty="0"/>
          </a:p>
        </p:txBody>
      </p:sp>
      <p:pic>
        <p:nvPicPr>
          <p:cNvPr id="4" name="browser-77" descr="preencoded.png">    </p:cNvPr>
          <p:cNvPicPr>
            <a:picLocks noChangeAspect="1"/>
          </p:cNvPicPr>
          <p:nvPr/>
        </p:nvPicPr>
        <p:blipFill>
          <a:blip r:embed="rId1"/>
          <a:stretch>
            <a:fillRect/>
          </a:stretch>
        </p:blipFill>
        <p:spPr>
          <a:xfrm>
            <a:off x="1165860" y="1737360"/>
            <a:ext cx="548640" cy="548640"/>
          </a:xfrm>
          <a:prstGeom prst="rect">
            <a:avLst/>
          </a:prstGeom>
        </p:spPr>
      </p:pic>
      <p:sp>
        <p:nvSpPr>
          <p:cNvPr id="5" name="text-78"/>
          <p:cNvSpPr txBox="1"/>
          <p:nvPr/>
        </p:nvSpPr>
        <p:spPr>
          <a:xfrm>
            <a:off x="548640" y="2359152"/>
            <a:ext cx="1783080" cy="274320"/>
          </a:xfrm>
          <a:prstGeom prst="rect">
            <a:avLst/>
          </a:prstGeom>
          <a:noFill/>
          <a:ln/>
        </p:spPr>
        <p:txBody>
          <a:bodyPr wrap="square" lIns="0" tIns="0" rIns="0" bIns="0" rtlCol="0" anchor="t"/>
          <a:lstStyle/>
          <a:p>
            <a:pPr algn="ctr" indent="0" marL="0">
              <a:buNone/>
            </a:pPr>
            <a:r>
              <a:rPr lang="en-US" sz="1300" b="1" dirty="0">
                <a:solidFill>
                  <a:schemeClr val="bg1"/>
                </a:solidFill>
              </a:rPr>
              <a:t>Team browsers</a:t>
            </a:r>
            <a:endParaRPr lang="en-US" sz="1300" dirty="0"/>
          </a:p>
        </p:txBody>
      </p:sp>
      <p:sp>
        <p:nvSpPr>
          <p:cNvPr id="6" name="text-79"/>
          <p:cNvSpPr txBox="1"/>
          <p:nvPr/>
        </p:nvSpPr>
        <p:spPr>
          <a:xfrm>
            <a:off x="548640" y="2615184"/>
            <a:ext cx="1783080" cy="237744"/>
          </a:xfrm>
          <a:prstGeom prst="rect">
            <a:avLst/>
          </a:prstGeom>
          <a:noFill/>
          <a:ln/>
        </p:spPr>
        <p:txBody>
          <a:bodyPr wrap="square" lIns="0" tIns="0" rIns="0" bIns="0" rtlCol="0" anchor="t"/>
          <a:lstStyle/>
          <a:p>
            <a:pPr algn="ctr" indent="0" marL="0">
              <a:buNone/>
            </a:pPr>
            <a:r>
              <a:rPr lang="en-US" sz="1100" dirty="0">
                <a:solidFill>
                  <a:schemeClr val="bg2"/>
                </a:solidFill>
              </a:rPr>
              <a:t>4 team IPs (/32)</a:t>
            </a:r>
            <a:endParaRPr lang="en-US" sz="1100" dirty="0"/>
          </a:p>
        </p:txBody>
      </p:sp>
      <p:sp>
        <p:nvSpPr>
          <p:cNvPr id="7" name="firewall-80"/>
          <p:cNvSpPr/>
          <p:nvPr/>
        </p:nvSpPr>
        <p:spPr>
          <a:xfrm>
            <a:off x="548640" y="3063240"/>
            <a:ext cx="1783080" cy="1298448"/>
          </a:xfrm>
          <a:prstGeom prst="roundRect">
            <a:avLst>
              <a:gd name="adj" fmla="val 5634"/>
            </a:avLst>
          </a:prstGeom>
          <a:solidFill>
            <a:schemeClr val="tx2"/>
          </a:solidFill>
          <a:ln w="12700">
            <a:solidFill>
              <a:schemeClr val="accent2"/>
            </a:solidFill>
            <a:prstDash val="solid"/>
          </a:ln>
        </p:spPr>
      </p:sp>
      <p:pic>
        <p:nvPicPr>
          <p:cNvPr id="8" name="icon-81" descr="preencoded.png">    </p:cNvPr>
          <p:cNvPicPr>
            <a:picLocks noChangeAspect="1"/>
          </p:cNvPicPr>
          <p:nvPr/>
        </p:nvPicPr>
        <p:blipFill>
          <a:blip r:embed="rId2"/>
          <a:stretch>
            <a:fillRect/>
          </a:stretch>
        </p:blipFill>
        <p:spPr>
          <a:xfrm>
            <a:off x="685800" y="3200400"/>
            <a:ext cx="256032" cy="256032"/>
          </a:xfrm>
          <a:prstGeom prst="rect">
            <a:avLst/>
          </a:prstGeom>
        </p:spPr>
      </p:pic>
      <p:sp>
        <p:nvSpPr>
          <p:cNvPr id="9" name="text-82"/>
          <p:cNvSpPr txBox="1"/>
          <p:nvPr/>
        </p:nvSpPr>
        <p:spPr>
          <a:xfrm>
            <a:off x="1005840" y="3200400"/>
            <a:ext cx="1234440" cy="256032"/>
          </a:xfrm>
          <a:prstGeom prst="rect">
            <a:avLst/>
          </a:prstGeom>
          <a:noFill/>
          <a:ln/>
        </p:spPr>
        <p:txBody>
          <a:bodyPr wrap="square" lIns="0" tIns="0" rIns="0" bIns="0" rtlCol="0" anchor="ctr"/>
          <a:lstStyle/>
          <a:p>
            <a:pPr algn="l" indent="0" marL="0">
              <a:buNone/>
            </a:pPr>
            <a:r>
              <a:rPr lang="en-US" sz="1250" b="1" dirty="0">
                <a:solidFill>
                  <a:schemeClr val="accent2"/>
                </a:solidFill>
              </a:rPr>
              <a:t>Firewall</a:t>
            </a:r>
            <a:endParaRPr lang="en-US" sz="1250" dirty="0"/>
          </a:p>
        </p:txBody>
      </p:sp>
      <p:sp>
        <p:nvSpPr>
          <p:cNvPr id="10" name="text-83"/>
          <p:cNvSpPr txBox="1"/>
          <p:nvPr/>
        </p:nvSpPr>
        <p:spPr>
          <a:xfrm>
            <a:off x="685800" y="3529584"/>
            <a:ext cx="1554480" cy="731520"/>
          </a:xfrm>
          <a:prstGeom prst="rect">
            <a:avLst/>
          </a:prstGeom>
          <a:noFill/>
          <a:ln/>
        </p:spPr>
        <p:txBody>
          <a:bodyPr wrap="square" lIns="0" tIns="0" rIns="0" bIns="0" rtlCol="0" anchor="t"/>
          <a:lstStyle/>
          <a:p>
            <a:pPr algn="l" indent="0" marL="0">
              <a:buNone/>
            </a:pPr>
            <a:r>
              <a:rPr lang="en-US" sz="1050" dirty="0">
                <a:solidFill>
                  <a:schemeClr val="bg2"/>
                </a:solidFill>
              </a:rPr>
              <a:t>gridpulse-team-access</a:t>
            </a:r>
            <a:endParaRPr lang="en-US" sz="1050" dirty="0"/>
          </a:p>
          <a:p>
            <a:pPr algn="l" indent="0" marL="0">
              <a:buNone/>
            </a:pPr>
            <a:r>
              <a:rPr lang="en-US" sz="1050" dirty="0">
                <a:solidFill>
                  <a:schemeClr val="bg2"/>
                </a:solidFill>
              </a:rPr>
              <a:t>tcp 22 · 80 · 8000</a:t>
            </a:r>
            <a:endParaRPr lang="en-US" sz="1050" dirty="0"/>
          </a:p>
          <a:p>
            <a:pPr algn="l" indent="0" marL="0">
              <a:buNone/>
            </a:pPr>
            <a:r>
              <a:rPr lang="en-US" sz="1050" dirty="0">
                <a:solidFill>
                  <a:schemeClr val="bg2"/>
                </a:solidFill>
              </a:rPr>
              <a:t>team /32s only, not 0.0.0.0/0</a:t>
            </a:r>
            <a:endParaRPr lang="en-US" sz="1050" dirty="0"/>
          </a:p>
        </p:txBody>
      </p:sp>
      <p:sp>
        <p:nvSpPr>
          <p:cNvPr id="11" name="text-84"/>
          <p:cNvSpPr txBox="1"/>
          <p:nvPr/>
        </p:nvSpPr>
        <p:spPr>
          <a:xfrm>
            <a:off x="548640" y="4617720"/>
            <a:ext cx="1783080" cy="1737360"/>
          </a:xfrm>
          <a:prstGeom prst="rect">
            <a:avLst/>
          </a:prstGeom>
          <a:noFill/>
          <a:ln/>
        </p:spPr>
        <p:txBody>
          <a:bodyPr wrap="square" lIns="0" tIns="0" rIns="0" bIns="0" rtlCol="0" anchor="t"/>
          <a:lstStyle/>
          <a:p>
            <a:pPr algn="l" indent="0" marL="0">
              <a:buNone/>
            </a:pPr>
            <a:r>
              <a:rPr lang="en-US" sz="1050" b="1" dirty="0">
                <a:solidFill>
                  <a:schemeClr val="accent2"/>
                </a:solidFill>
              </a:rPr>
              <a:t>PUBLIC</a:t>
            </a:r>
            <a:endParaRPr lang="en-US" sz="1050" dirty="0"/>
          </a:p>
          <a:p>
            <a:pPr algn="l" indent="0" marL="0">
              <a:buNone/>
            </a:pPr>
            <a:r>
              <a:rPr lang="en-US" sz="1050" dirty="0">
                <a:solidFill>
                  <a:schemeClr val="bg2"/>
                </a:solidFill>
              </a:rPr>
              <a:t>only the VM's static IP, behind the firewall</a:t>
            </a:r>
            <a:endParaRPr lang="en-US" sz="1050" dirty="0"/>
          </a:p>
          <a:p>
            <a:pPr algn="l" indent="0" marL="0">
              <a:buNone/>
            </a:pPr>
            <a:r>
              <a:rPr lang="en-US" sz="500" dirty="0">
                <a:solidFill>
                  <a:schemeClr val="bg2"/>
                </a:solidFill>
              </a:rPr>
              <a:t> </a:t>
            </a:r>
            <a:endParaRPr lang="en-US" sz="1050" dirty="0"/>
          </a:p>
          <a:p>
            <a:pPr algn="l" indent="0" marL="0">
              <a:buNone/>
            </a:pPr>
            <a:r>
              <a:rPr lang="en-US" sz="1050" b="1" dirty="0">
                <a:solidFill>
                  <a:schemeClr val="accent1"/>
                </a:solidFill>
              </a:rPr>
              <a:t>PRIVATE</a:t>
            </a:r>
            <a:endParaRPr lang="en-US" sz="1050" dirty="0"/>
          </a:p>
          <a:p>
            <a:pPr algn="l" indent="0" marL="0">
              <a:buNone/>
            </a:pPr>
            <a:r>
              <a:rPr lang="en-US" sz="1050" dirty="0">
                <a:solidFill>
                  <a:schemeClr val="bg2"/>
                </a:solidFill>
              </a:rPr>
              <a:t>Cloud SQL has no public IP; bucket and secrets refuse anonymous access</a:t>
            </a:r>
            <a:endParaRPr lang="en-US" sz="1050" dirty="0"/>
          </a:p>
        </p:txBody>
      </p:sp>
      <p:sp>
        <p:nvSpPr>
          <p:cNvPr id="12" name="vpc-85"/>
          <p:cNvSpPr/>
          <p:nvPr/>
        </p:nvSpPr>
        <p:spPr>
          <a:xfrm>
            <a:off x="2560320" y="1600200"/>
            <a:ext cx="5394960" cy="4754880"/>
          </a:xfrm>
          <a:prstGeom prst="roundRect">
            <a:avLst>
              <a:gd name="adj" fmla="val 1538"/>
            </a:avLst>
          </a:prstGeom>
          <a:ln w="9525">
            <a:solidFill>
              <a:schemeClr val="bg2"/>
            </a:solidFill>
            <a:prstDash val="dash"/>
          </a:ln>
        </p:spPr>
      </p:sp>
      <p:sp>
        <p:nvSpPr>
          <p:cNvPr id="13" name="label-86"/>
          <p:cNvSpPr txBox="1"/>
          <p:nvPr/>
        </p:nvSpPr>
        <p:spPr>
          <a:xfrm>
            <a:off x="2761488" y="1719072"/>
            <a:ext cx="5029200" cy="228600"/>
          </a:xfrm>
          <a:prstGeom prst="rect">
            <a:avLst/>
          </a:prstGeom>
          <a:noFill/>
          <a:ln/>
        </p:spPr>
        <p:txBody>
          <a:bodyPr wrap="square" lIns="0" tIns="0" rIns="0" bIns="0" rtlCol="0" anchor="t"/>
          <a:lstStyle/>
          <a:p>
            <a:pPr algn="l" indent="0" marL="0">
              <a:buNone/>
            </a:pPr>
            <a:r>
              <a:rPr lang="en-US" sz="1050" b="1" spc="150" kern="0" dirty="0">
                <a:solidFill>
                  <a:schemeClr val="bg2"/>
                </a:solidFill>
              </a:rPr>
              <a:t>VPC  ·  DEFAULT  ·  US-CENTRAL1</a:t>
            </a:r>
            <a:endParaRPr lang="en-US" sz="1050" dirty="0"/>
          </a:p>
        </p:txBody>
      </p:sp>
      <p:sp>
        <p:nvSpPr>
          <p:cNvPr id="14" name="subnet-87"/>
          <p:cNvSpPr/>
          <p:nvPr/>
        </p:nvSpPr>
        <p:spPr>
          <a:xfrm>
            <a:off x="2761488" y="2011680"/>
            <a:ext cx="4992624" cy="1828800"/>
          </a:xfrm>
          <a:prstGeom prst="roundRect">
            <a:avLst>
              <a:gd name="adj" fmla="val 4000"/>
            </a:avLst>
          </a:prstGeom>
          <a:ln w="12700">
            <a:solidFill>
              <a:schemeClr val="accent3"/>
            </a:solidFill>
            <a:prstDash val="solid"/>
          </a:ln>
        </p:spPr>
      </p:sp>
      <p:sp>
        <p:nvSpPr>
          <p:cNvPr id="15" name="label-88"/>
          <p:cNvSpPr txBox="1"/>
          <p:nvPr/>
        </p:nvSpPr>
        <p:spPr>
          <a:xfrm>
            <a:off x="2926080" y="2103120"/>
            <a:ext cx="4718304" cy="228600"/>
          </a:xfrm>
          <a:prstGeom prst="rect">
            <a:avLst/>
          </a:prstGeom>
          <a:noFill/>
          <a:ln/>
        </p:spPr>
        <p:txBody>
          <a:bodyPr wrap="square" lIns="0" tIns="0" rIns="0" bIns="0" rtlCol="0" anchor="t"/>
          <a:lstStyle/>
          <a:p>
            <a:pPr algn="l" indent="0" marL="0">
              <a:buNone/>
            </a:pPr>
            <a:r>
              <a:rPr lang="en-US" sz="1050" b="1" spc="150" kern="0" dirty="0">
                <a:solidFill>
                  <a:schemeClr val="bg2"/>
                </a:solidFill>
              </a:rPr>
              <a:t>SUBNET  DEFAULT  ·  10.128.0.0/20</a:t>
            </a:r>
            <a:endParaRPr lang="en-US" sz="1050" dirty="0"/>
          </a:p>
        </p:txBody>
      </p:sp>
      <p:sp>
        <p:nvSpPr>
          <p:cNvPr id="16" name="vm-89"/>
          <p:cNvSpPr/>
          <p:nvPr/>
        </p:nvSpPr>
        <p:spPr>
          <a:xfrm>
            <a:off x="2926080" y="2395728"/>
            <a:ext cx="4663440" cy="1298448"/>
          </a:xfrm>
          <a:prstGeom prst="roundRect">
            <a:avLst>
              <a:gd name="adj" fmla="val 5634"/>
            </a:avLst>
          </a:prstGeom>
          <a:solidFill>
            <a:schemeClr val="tx2"/>
          </a:solidFill>
          <a:ln w="9525">
            <a:solidFill>
              <a:schemeClr val="accent3"/>
            </a:solidFill>
            <a:prstDash val="solid"/>
          </a:ln>
        </p:spPr>
      </p:sp>
      <p:pic>
        <p:nvPicPr>
          <p:cNvPr id="17" name="icon-90" descr="preencoded.png">    </p:cNvPr>
          <p:cNvPicPr>
            <a:picLocks noChangeAspect="1"/>
          </p:cNvPicPr>
          <p:nvPr/>
        </p:nvPicPr>
        <p:blipFill>
          <a:blip r:embed="rId3"/>
          <a:stretch>
            <a:fillRect/>
          </a:stretch>
        </p:blipFill>
        <p:spPr>
          <a:xfrm>
            <a:off x="3090672" y="2542032"/>
            <a:ext cx="329184" cy="329184"/>
          </a:xfrm>
          <a:prstGeom prst="rect">
            <a:avLst/>
          </a:prstGeom>
        </p:spPr>
      </p:pic>
      <p:sp>
        <p:nvSpPr>
          <p:cNvPr id="18" name="text-91"/>
          <p:cNvSpPr txBox="1"/>
          <p:nvPr/>
        </p:nvSpPr>
        <p:spPr>
          <a:xfrm>
            <a:off x="3547872" y="2505456"/>
            <a:ext cx="2011680" cy="292608"/>
          </a:xfrm>
          <a:prstGeom prst="rect">
            <a:avLst/>
          </a:prstGeom>
          <a:noFill/>
          <a:ln/>
        </p:spPr>
        <p:txBody>
          <a:bodyPr wrap="square" lIns="0" tIns="0" rIns="0" bIns="0" rtlCol="0" anchor="ctr"/>
          <a:lstStyle/>
          <a:p>
            <a:pPr algn="l" indent="0" marL="0">
              <a:buNone/>
            </a:pPr>
            <a:r>
              <a:rPr lang="en-US" sz="1500" b="1" dirty="0">
                <a:solidFill>
                  <a:schemeClr val="bg1"/>
                </a:solidFill>
              </a:rPr>
              <a:t>gridpulse-vm</a:t>
            </a:r>
            <a:endParaRPr lang="en-US" sz="1500" dirty="0"/>
          </a:p>
        </p:txBody>
      </p:sp>
      <p:sp>
        <p:nvSpPr>
          <p:cNvPr id="19" name="text-92"/>
          <p:cNvSpPr txBox="1"/>
          <p:nvPr/>
        </p:nvSpPr>
        <p:spPr>
          <a:xfrm>
            <a:off x="5303520" y="2505456"/>
            <a:ext cx="2148840" cy="292608"/>
          </a:xfrm>
          <a:prstGeom prst="rect">
            <a:avLst/>
          </a:prstGeom>
          <a:noFill/>
          <a:ln/>
        </p:spPr>
        <p:txBody>
          <a:bodyPr wrap="square" lIns="0" tIns="0" rIns="0" bIns="0" rtlCol="0" anchor="ctr"/>
          <a:lstStyle/>
          <a:p>
            <a:pPr algn="r" indent="0" marL="0">
              <a:buNone/>
            </a:pPr>
            <a:r>
              <a:rPr lang="en-US" sz="1100" dirty="0">
                <a:solidFill>
                  <a:schemeClr val="bg2"/>
                </a:solidFill>
              </a:rPr>
              <a:t>e2-medium · us-central1-a</a:t>
            </a:r>
            <a:endParaRPr lang="en-US" sz="1100" dirty="0"/>
          </a:p>
        </p:txBody>
      </p:sp>
      <p:sp>
        <p:nvSpPr>
          <p:cNvPr id="20" name="text-93"/>
          <p:cNvSpPr txBox="1"/>
          <p:nvPr/>
        </p:nvSpPr>
        <p:spPr>
          <a:xfrm>
            <a:off x="3547872" y="2852928"/>
            <a:ext cx="3931920" cy="256032"/>
          </a:xfrm>
          <a:prstGeom prst="rect">
            <a:avLst/>
          </a:prstGeom>
          <a:noFill/>
          <a:ln/>
        </p:spPr>
        <p:txBody>
          <a:bodyPr wrap="square" lIns="0" tIns="0" rIns="0" bIns="0" rtlCol="0" anchor="ctr"/>
          <a:lstStyle/>
          <a:p>
            <a:pPr algn="l" indent="0" marL="0">
              <a:buNone/>
            </a:pPr>
            <a:r>
              <a:rPr lang="en-US" sz="1100" b="1" dirty="0">
                <a:solidFill>
                  <a:schemeClr val="accent2"/>
                </a:solidFill>
              </a:rPr>
              <a:t>PUBLIC  </a:t>
            </a:r>
            <a:pPr algn="l" indent="0" marL="0">
              <a:buNone/>
            </a:pPr>
            <a:r>
              <a:rPr lang="en-US" sz="1100" dirty="0">
                <a:solidFill>
                  <a:schemeClr val="bg1"/>
                </a:solidFill>
              </a:rPr>
              <a:t>35.184.90.182 (static)   </a:t>
            </a:r>
            <a:pPr algn="l" indent="0" marL="0">
              <a:buNone/>
            </a:pPr>
            <a:r>
              <a:rPr lang="en-US" sz="1100" dirty="0">
                <a:solidFill>
                  <a:schemeClr val="bg2"/>
                </a:solidFill>
              </a:rPr>
              <a:t>internal 10.128.0.x</a:t>
            </a:r>
            <a:endParaRPr lang="en-US" sz="1100" dirty="0"/>
          </a:p>
        </p:txBody>
      </p:sp>
      <p:pic>
        <p:nvPicPr>
          <p:cNvPr id="21" name="icon-94" descr="preencoded.png">    </p:cNvPr>
          <p:cNvPicPr>
            <a:picLocks noChangeAspect="1"/>
          </p:cNvPicPr>
          <p:nvPr/>
        </p:nvPicPr>
        <p:blipFill>
          <a:blip r:embed="rId4"/>
          <a:stretch>
            <a:fillRect/>
          </a:stretch>
        </p:blipFill>
        <p:spPr>
          <a:xfrm>
            <a:off x="3547872" y="3236976"/>
            <a:ext cx="237744" cy="237744"/>
          </a:xfrm>
          <a:prstGeom prst="rect">
            <a:avLst/>
          </a:prstGeom>
        </p:spPr>
      </p:pic>
      <p:sp>
        <p:nvSpPr>
          <p:cNvPr id="22" name="text-95"/>
          <p:cNvSpPr txBox="1"/>
          <p:nvPr/>
        </p:nvSpPr>
        <p:spPr>
          <a:xfrm>
            <a:off x="3840480" y="3218688"/>
            <a:ext cx="3657600" cy="274320"/>
          </a:xfrm>
          <a:prstGeom prst="rect">
            <a:avLst/>
          </a:prstGeom>
          <a:noFill/>
          <a:ln/>
        </p:spPr>
        <p:txBody>
          <a:bodyPr wrap="square" lIns="0" tIns="0" rIns="0" bIns="0" rtlCol="0" anchor="ctr"/>
          <a:lstStyle/>
          <a:p>
            <a:pPr algn="l" indent="0" marL="0">
              <a:buNone/>
            </a:pPr>
            <a:r>
              <a:rPr lang="en-US" sz="1100" dirty="0">
                <a:solidFill>
                  <a:schemeClr val="bg2"/>
                </a:solidFill>
              </a:rPr>
              <a:t>runs as </a:t>
            </a:r>
            <a:pPr algn="l" indent="0" marL="0">
              <a:buNone/>
            </a:pPr>
            <a:r>
              <a:rPr lang="en-US" sz="1100" b="1" dirty="0">
                <a:solidFill>
                  <a:schemeClr val="accent1"/>
                </a:solidFill>
              </a:rPr>
              <a:t>gridpulse-vm-sa</a:t>
            </a:r>
            <a:pPr algn="l" indent="0" marL="0">
              <a:buNone/>
            </a:pPr>
            <a:r>
              <a:rPr lang="en-US" sz="1100" dirty="0">
                <a:solidFill>
                  <a:schemeClr val="bg2"/>
                </a:solidFill>
              </a:rPr>
              <a:t> · scope cloud-platform · 0 key files</a:t>
            </a:r>
            <a:endParaRPr lang="en-US" sz="1100" dirty="0"/>
          </a:p>
        </p:txBody>
      </p:sp>
      <p:sp>
        <p:nvSpPr>
          <p:cNvPr id="23" name="psa-range-96"/>
          <p:cNvSpPr/>
          <p:nvPr/>
        </p:nvSpPr>
        <p:spPr>
          <a:xfrm>
            <a:off x="2761488" y="4160520"/>
            <a:ext cx="4992624" cy="1828800"/>
          </a:xfrm>
          <a:prstGeom prst="roundRect">
            <a:avLst>
              <a:gd name="adj" fmla="val 4000"/>
            </a:avLst>
          </a:prstGeom>
          <a:ln w="12700">
            <a:solidFill>
              <a:schemeClr val="accent3"/>
            </a:solidFill>
            <a:prstDash val="solid"/>
          </a:ln>
        </p:spPr>
      </p:sp>
      <p:sp>
        <p:nvSpPr>
          <p:cNvPr id="24" name="label-97"/>
          <p:cNvSpPr txBox="1"/>
          <p:nvPr/>
        </p:nvSpPr>
        <p:spPr>
          <a:xfrm>
            <a:off x="2926080" y="4251960"/>
            <a:ext cx="4718304" cy="228600"/>
          </a:xfrm>
          <a:prstGeom prst="rect">
            <a:avLst/>
          </a:prstGeom>
          <a:noFill/>
          <a:ln/>
        </p:spPr>
        <p:txBody>
          <a:bodyPr wrap="square" lIns="0" tIns="0" rIns="0" bIns="0" rtlCol="0" anchor="t"/>
          <a:lstStyle/>
          <a:p>
            <a:pPr algn="l" indent="0" marL="0">
              <a:buNone/>
            </a:pPr>
            <a:r>
              <a:rPr lang="en-US" sz="1050" b="1" spc="150" kern="0" dirty="0">
                <a:solidFill>
                  <a:schemeClr val="bg2"/>
                </a:solidFill>
              </a:rPr>
              <a:t>PRIVATE RANGE  10.60.0.0/20  ·  VPC PEERING</a:t>
            </a:r>
            <a:endParaRPr lang="en-US" sz="1050" dirty="0"/>
          </a:p>
        </p:txBody>
      </p:sp>
      <p:sp>
        <p:nvSpPr>
          <p:cNvPr id="25" name="cloudsql-98"/>
          <p:cNvSpPr/>
          <p:nvPr/>
        </p:nvSpPr>
        <p:spPr>
          <a:xfrm>
            <a:off x="2926080" y="4617720"/>
            <a:ext cx="4663440" cy="1188720"/>
          </a:xfrm>
          <a:prstGeom prst="roundRect">
            <a:avLst>
              <a:gd name="adj" fmla="val 6154"/>
            </a:avLst>
          </a:prstGeom>
          <a:solidFill>
            <a:schemeClr val="tx2"/>
          </a:solidFill>
          <a:ln w="9525">
            <a:solidFill>
              <a:schemeClr val="accent1"/>
            </a:solidFill>
            <a:prstDash val="solid"/>
          </a:ln>
        </p:spPr>
      </p:sp>
      <p:pic>
        <p:nvPicPr>
          <p:cNvPr id="26" name="icon-99" descr="preencoded.png">    </p:cNvPr>
          <p:cNvPicPr>
            <a:picLocks noChangeAspect="1"/>
          </p:cNvPicPr>
          <p:nvPr/>
        </p:nvPicPr>
        <p:blipFill>
          <a:blip r:embed="rId5"/>
          <a:stretch>
            <a:fillRect/>
          </a:stretch>
        </p:blipFill>
        <p:spPr>
          <a:xfrm>
            <a:off x="3090672" y="4764024"/>
            <a:ext cx="329184" cy="329184"/>
          </a:xfrm>
          <a:prstGeom prst="rect">
            <a:avLst/>
          </a:prstGeom>
        </p:spPr>
      </p:pic>
      <p:sp>
        <p:nvSpPr>
          <p:cNvPr id="27" name="text-100"/>
          <p:cNvSpPr txBox="1"/>
          <p:nvPr/>
        </p:nvSpPr>
        <p:spPr>
          <a:xfrm>
            <a:off x="3547872" y="4727448"/>
            <a:ext cx="3017520" cy="292608"/>
          </a:xfrm>
          <a:prstGeom prst="rect">
            <a:avLst/>
          </a:prstGeom>
          <a:noFill/>
          <a:ln/>
        </p:spPr>
        <p:txBody>
          <a:bodyPr wrap="square" lIns="0" tIns="0" rIns="0" bIns="0" rtlCol="0" anchor="ctr"/>
          <a:lstStyle/>
          <a:p>
            <a:pPr algn="l" indent="0" marL="0">
              <a:buNone/>
            </a:pPr>
            <a:r>
              <a:rPr lang="en-US" sz="1500" b="1" dirty="0">
                <a:solidFill>
                  <a:schemeClr val="bg1"/>
                </a:solidFill>
              </a:rPr>
              <a:t>Cloud SQL · gridpulse-db</a:t>
            </a:r>
            <a:endParaRPr lang="en-US" sz="1500" dirty="0"/>
          </a:p>
        </p:txBody>
      </p:sp>
      <p:sp>
        <p:nvSpPr>
          <p:cNvPr id="28" name="text-101"/>
          <p:cNvSpPr txBox="1"/>
          <p:nvPr/>
        </p:nvSpPr>
        <p:spPr>
          <a:xfrm>
            <a:off x="6217920" y="4727448"/>
            <a:ext cx="1234440" cy="292608"/>
          </a:xfrm>
          <a:prstGeom prst="rect">
            <a:avLst/>
          </a:prstGeom>
          <a:noFill/>
          <a:ln/>
        </p:spPr>
        <p:txBody>
          <a:bodyPr wrap="square" lIns="0" tIns="0" rIns="0" bIns="0" rtlCol="0" anchor="ctr"/>
          <a:lstStyle/>
          <a:p>
            <a:pPr algn="r" indent="0" marL="0">
              <a:buNone/>
            </a:pPr>
            <a:r>
              <a:rPr lang="en-US" sz="1100" dirty="0">
                <a:solidFill>
                  <a:schemeClr val="bg2"/>
                </a:solidFill>
              </a:rPr>
              <a:t>PostgreSQL 16</a:t>
            </a:r>
            <a:endParaRPr lang="en-US" sz="1100" dirty="0"/>
          </a:p>
        </p:txBody>
      </p:sp>
      <p:sp>
        <p:nvSpPr>
          <p:cNvPr id="29" name="text-102"/>
          <p:cNvSpPr txBox="1"/>
          <p:nvPr/>
        </p:nvSpPr>
        <p:spPr>
          <a:xfrm>
            <a:off x="3547872" y="5093208"/>
            <a:ext cx="3931920" cy="256032"/>
          </a:xfrm>
          <a:prstGeom prst="rect">
            <a:avLst/>
          </a:prstGeom>
          <a:noFill/>
          <a:ln/>
        </p:spPr>
        <p:txBody>
          <a:bodyPr wrap="square" lIns="0" tIns="0" rIns="0" bIns="0" rtlCol="0" anchor="ctr"/>
          <a:lstStyle/>
          <a:p>
            <a:pPr algn="l" indent="0" marL="0">
              <a:buNone/>
            </a:pPr>
            <a:r>
              <a:rPr lang="en-US" sz="1100" b="1" dirty="0">
                <a:solidFill>
                  <a:schemeClr val="accent1"/>
                </a:solidFill>
              </a:rPr>
              <a:t>PRIVATE  </a:t>
            </a:r>
            <a:pPr algn="l" indent="0" marL="0">
              <a:buNone/>
            </a:pPr>
            <a:r>
              <a:rPr lang="en-US" sz="1100" dirty="0">
                <a:solidFill>
                  <a:schemeClr val="bg1"/>
                </a:solidFill>
              </a:rPr>
              <a:t>10.60.0.3   </a:t>
            </a:r>
            <a:pPr algn="l" indent="0" marL="0">
              <a:buNone/>
            </a:pPr>
            <a:r>
              <a:rPr lang="en-US" sz="1100" dirty="0">
                <a:solidFill>
                  <a:schemeClr val="bg2"/>
                </a:solidFill>
              </a:rPr>
              <a:t>public IPv4: disabled</a:t>
            </a:r>
            <a:endParaRPr lang="en-US" sz="1100" dirty="0"/>
          </a:p>
        </p:txBody>
      </p:sp>
      <p:sp>
        <p:nvSpPr>
          <p:cNvPr id="30" name="text-103"/>
          <p:cNvSpPr txBox="1"/>
          <p:nvPr/>
        </p:nvSpPr>
        <p:spPr>
          <a:xfrm>
            <a:off x="3547872" y="5404104"/>
            <a:ext cx="3931920" cy="256032"/>
          </a:xfrm>
          <a:prstGeom prst="rect">
            <a:avLst/>
          </a:prstGeom>
          <a:noFill/>
          <a:ln/>
        </p:spPr>
        <p:txBody>
          <a:bodyPr wrap="square" lIns="0" tIns="0" rIns="0" bIns="0" rtlCol="0" anchor="ctr"/>
          <a:lstStyle/>
          <a:p>
            <a:pPr algn="l" indent="0" marL="0">
              <a:buNone/>
            </a:pPr>
            <a:r>
              <a:rPr lang="en-US" sz="1100" dirty="0">
                <a:solidFill>
                  <a:schemeClr val="bg2"/>
                </a:solidFill>
              </a:rPr>
              <a:t>db-f1-micro · TLS only (ENCRYPTED_ONLY) · daily backups</a:t>
            </a:r>
            <a:endParaRPr lang="en-US" sz="1100" dirty="0"/>
          </a:p>
        </p:txBody>
      </p:sp>
      <p:sp>
        <p:nvSpPr>
          <p:cNvPr id="31" name="arrow-104"/>
          <p:cNvSpPr/>
          <p:nvPr/>
        </p:nvSpPr>
        <p:spPr>
          <a:xfrm>
            <a:off x="7086600" y="3694176"/>
            <a:ext cx="91" cy="905256"/>
          </a:xfrm>
          <a:prstGeom prst="line">
            <a:avLst/>
          </a:prstGeom>
          <a:noFill/>
          <a:ln w="19050">
            <a:solidFill>
              <a:schemeClr val="accent1"/>
            </a:solidFill>
            <a:prstDash val="solid"/>
            <a:tailEnd type="triangle"/>
          </a:ln>
        </p:spPr>
      </p:sp>
      <p:sp>
        <p:nvSpPr>
          <p:cNvPr id="32" name="text-105"/>
          <p:cNvSpPr txBox="1"/>
          <p:nvPr/>
        </p:nvSpPr>
        <p:spPr>
          <a:xfrm>
            <a:off x="6126480" y="3877056"/>
            <a:ext cx="868680" cy="237744"/>
          </a:xfrm>
          <a:prstGeom prst="rect">
            <a:avLst/>
          </a:prstGeom>
          <a:noFill/>
          <a:ln/>
        </p:spPr>
        <p:txBody>
          <a:bodyPr wrap="square" lIns="0" tIns="0" rIns="0" bIns="0" rtlCol="0" anchor="ctr"/>
          <a:lstStyle/>
          <a:p>
            <a:pPr algn="r" indent="0" marL="0">
              <a:buNone/>
            </a:pPr>
            <a:r>
              <a:rPr lang="en-US" sz="1050" b="1" dirty="0">
                <a:solidFill>
                  <a:schemeClr val="accent1"/>
                </a:solidFill>
              </a:rPr>
              <a:t>TLS :5432</a:t>
            </a:r>
            <a:endParaRPr lang="en-US" sz="1050" dirty="0"/>
          </a:p>
        </p:txBody>
      </p:sp>
      <p:sp>
        <p:nvSpPr>
          <p:cNvPr id="33" name="label-106"/>
          <p:cNvSpPr txBox="1"/>
          <p:nvPr/>
        </p:nvSpPr>
        <p:spPr>
          <a:xfrm>
            <a:off x="8183880" y="1600200"/>
            <a:ext cx="3456432" cy="228600"/>
          </a:xfrm>
          <a:prstGeom prst="rect">
            <a:avLst/>
          </a:prstGeom>
          <a:noFill/>
          <a:ln/>
        </p:spPr>
        <p:txBody>
          <a:bodyPr wrap="square" lIns="0" tIns="0" rIns="0" bIns="0" rtlCol="0" anchor="t"/>
          <a:lstStyle/>
          <a:p>
            <a:pPr algn="l" indent="0" marL="0">
              <a:buNone/>
            </a:pPr>
            <a:r>
              <a:rPr lang="en-US" sz="1050" b="1" spc="150" kern="0" dirty="0">
                <a:solidFill>
                  <a:schemeClr val="bg2"/>
                </a:solidFill>
              </a:rPr>
              <a:t>GOOGLE APIs  ·  IAM CHECKS EVERY CALL</a:t>
            </a:r>
            <a:endParaRPr lang="en-US" sz="1050" dirty="0"/>
          </a:p>
        </p:txBody>
      </p:sp>
      <p:sp>
        <p:nvSpPr>
          <p:cNvPr id="34" name="api-card-107"/>
          <p:cNvSpPr/>
          <p:nvPr/>
        </p:nvSpPr>
        <p:spPr>
          <a:xfrm>
            <a:off x="8183880" y="1965960"/>
            <a:ext cx="3456432" cy="914400"/>
          </a:xfrm>
          <a:prstGeom prst="roundRect">
            <a:avLst>
              <a:gd name="adj" fmla="val 8000"/>
            </a:avLst>
          </a:prstGeom>
          <a:solidFill>
            <a:schemeClr val="tx2"/>
          </a:solidFill>
          <a:ln w="9525">
            <a:solidFill>
              <a:schemeClr val="accent3"/>
            </a:solidFill>
            <a:prstDash val="solid"/>
          </a:ln>
        </p:spPr>
      </p:sp>
      <p:pic>
        <p:nvPicPr>
          <p:cNvPr id="35" name="icon-108" descr="preencoded.png">    </p:cNvPr>
          <p:cNvPicPr>
            <a:picLocks noChangeAspect="1"/>
          </p:cNvPicPr>
          <p:nvPr/>
        </p:nvPicPr>
        <p:blipFill>
          <a:blip r:embed="rId6"/>
          <a:stretch>
            <a:fillRect/>
          </a:stretch>
        </p:blipFill>
        <p:spPr>
          <a:xfrm>
            <a:off x="8330184" y="2121408"/>
            <a:ext cx="274320" cy="274320"/>
          </a:xfrm>
          <a:prstGeom prst="rect">
            <a:avLst/>
          </a:prstGeom>
        </p:spPr>
      </p:pic>
      <p:sp>
        <p:nvSpPr>
          <p:cNvPr id="36" name="text-109"/>
          <p:cNvSpPr txBox="1"/>
          <p:nvPr/>
        </p:nvSpPr>
        <p:spPr>
          <a:xfrm>
            <a:off x="8714232" y="2057400"/>
            <a:ext cx="2816352" cy="256032"/>
          </a:xfrm>
          <a:prstGeom prst="rect">
            <a:avLst/>
          </a:prstGeom>
          <a:noFill/>
          <a:ln/>
        </p:spPr>
        <p:txBody>
          <a:bodyPr wrap="square" lIns="0" tIns="0" rIns="0" bIns="0" rtlCol="0" anchor="ctr"/>
          <a:lstStyle/>
          <a:p>
            <a:pPr algn="l" indent="0" marL="0">
              <a:buNone/>
            </a:pPr>
            <a:r>
              <a:rPr lang="en-US" sz="1300" b="1" dirty="0">
                <a:solidFill>
                  <a:schemeClr val="bg1"/>
                </a:solidFill>
              </a:rPr>
              <a:t>Secret Manager</a:t>
            </a:r>
            <a:endParaRPr lang="en-US" sz="1300" dirty="0"/>
          </a:p>
        </p:txBody>
      </p:sp>
      <p:sp>
        <p:nvSpPr>
          <p:cNvPr id="37" name="text-110"/>
          <p:cNvSpPr txBox="1"/>
          <p:nvPr/>
        </p:nvSpPr>
        <p:spPr>
          <a:xfrm>
            <a:off x="8714232" y="2322576"/>
            <a:ext cx="2816352" cy="228600"/>
          </a:xfrm>
          <a:prstGeom prst="rect">
            <a:avLst/>
          </a:prstGeom>
          <a:noFill/>
          <a:ln/>
        </p:spPr>
        <p:txBody>
          <a:bodyPr wrap="square" lIns="0" tIns="0" rIns="0" bIns="0" rtlCol="0" anchor="ctr"/>
          <a:lstStyle/>
          <a:p>
            <a:pPr algn="l" indent="0" marL="0">
              <a:buNone/>
            </a:pPr>
            <a:r>
              <a:rPr lang="en-US" sz="1050" dirty="0">
                <a:solidFill>
                  <a:schemeClr val="bg2"/>
                </a:solidFill>
              </a:rPr>
              <a:t>secret gridpulse-db-password only</a:t>
            </a:r>
            <a:endParaRPr lang="en-US" sz="1050" dirty="0"/>
          </a:p>
        </p:txBody>
      </p:sp>
      <p:sp>
        <p:nvSpPr>
          <p:cNvPr id="38" name="text-111"/>
          <p:cNvSpPr txBox="1"/>
          <p:nvPr/>
        </p:nvSpPr>
        <p:spPr>
          <a:xfrm>
            <a:off x="8714232" y="2560320"/>
            <a:ext cx="2816352" cy="228600"/>
          </a:xfrm>
          <a:prstGeom prst="rect">
            <a:avLst/>
          </a:prstGeom>
          <a:noFill/>
          <a:ln/>
        </p:spPr>
        <p:txBody>
          <a:bodyPr wrap="square" lIns="0" tIns="0" rIns="0" bIns="0" rtlCol="0" anchor="ctr"/>
          <a:lstStyle/>
          <a:p>
            <a:pPr algn="l" indent="0" marL="0">
              <a:buNone/>
            </a:pPr>
            <a:r>
              <a:rPr lang="en-US" sz="1050" b="1" dirty="0">
                <a:solidFill>
                  <a:schemeClr val="accent1"/>
                </a:solidFill>
              </a:rPr>
              <a:t>roles/secretmanager.secretAccessor</a:t>
            </a:r>
            <a:endParaRPr lang="en-US" sz="1050" dirty="0"/>
          </a:p>
        </p:txBody>
      </p:sp>
      <p:sp>
        <p:nvSpPr>
          <p:cNvPr id="39" name="arrow-112"/>
          <p:cNvSpPr/>
          <p:nvPr/>
        </p:nvSpPr>
        <p:spPr>
          <a:xfrm>
            <a:off x="8065008" y="2423160"/>
            <a:ext cx="100584" cy="91"/>
          </a:xfrm>
          <a:prstGeom prst="line">
            <a:avLst/>
          </a:prstGeom>
          <a:noFill/>
          <a:ln w="15875">
            <a:solidFill>
              <a:schemeClr val="accent1"/>
            </a:solidFill>
            <a:prstDash val="solid"/>
            <a:tailEnd type="triangle"/>
          </a:ln>
        </p:spPr>
      </p:sp>
      <p:sp>
        <p:nvSpPr>
          <p:cNvPr id="40" name="api-card-113"/>
          <p:cNvSpPr/>
          <p:nvPr/>
        </p:nvSpPr>
        <p:spPr>
          <a:xfrm>
            <a:off x="8183880" y="2971800"/>
            <a:ext cx="3456432" cy="914400"/>
          </a:xfrm>
          <a:prstGeom prst="roundRect">
            <a:avLst>
              <a:gd name="adj" fmla="val 8000"/>
            </a:avLst>
          </a:prstGeom>
          <a:solidFill>
            <a:schemeClr val="tx2"/>
          </a:solidFill>
          <a:ln w="9525">
            <a:solidFill>
              <a:schemeClr val="accent3"/>
            </a:solidFill>
            <a:prstDash val="solid"/>
          </a:ln>
        </p:spPr>
      </p:sp>
      <p:pic>
        <p:nvPicPr>
          <p:cNvPr id="41" name="icon-114" descr="preencoded.png">    </p:cNvPr>
          <p:cNvPicPr>
            <a:picLocks noChangeAspect="1"/>
          </p:cNvPicPr>
          <p:nvPr/>
        </p:nvPicPr>
        <p:blipFill>
          <a:blip r:embed="rId7"/>
          <a:stretch>
            <a:fillRect/>
          </a:stretch>
        </p:blipFill>
        <p:spPr>
          <a:xfrm>
            <a:off x="8330184" y="3127248"/>
            <a:ext cx="274320" cy="274320"/>
          </a:xfrm>
          <a:prstGeom prst="rect">
            <a:avLst/>
          </a:prstGeom>
        </p:spPr>
      </p:pic>
      <p:sp>
        <p:nvSpPr>
          <p:cNvPr id="42" name="text-115"/>
          <p:cNvSpPr txBox="1"/>
          <p:nvPr/>
        </p:nvSpPr>
        <p:spPr>
          <a:xfrm>
            <a:off x="8714232" y="3063240"/>
            <a:ext cx="2816352" cy="256032"/>
          </a:xfrm>
          <a:prstGeom prst="rect">
            <a:avLst/>
          </a:prstGeom>
          <a:noFill/>
          <a:ln/>
        </p:spPr>
        <p:txBody>
          <a:bodyPr wrap="square" lIns="0" tIns="0" rIns="0" bIns="0" rtlCol="0" anchor="ctr"/>
          <a:lstStyle/>
          <a:p>
            <a:pPr algn="l" indent="0" marL="0">
              <a:buNone/>
            </a:pPr>
            <a:r>
              <a:rPr lang="en-US" sz="1300" b="1" dirty="0">
                <a:solidFill>
                  <a:schemeClr val="bg1"/>
                </a:solidFill>
              </a:rPr>
              <a:t>Cloud Storage</a:t>
            </a:r>
            <a:endParaRPr lang="en-US" sz="1300" dirty="0"/>
          </a:p>
        </p:txBody>
      </p:sp>
      <p:sp>
        <p:nvSpPr>
          <p:cNvPr id="43" name="text-116"/>
          <p:cNvSpPr txBox="1"/>
          <p:nvPr/>
        </p:nvSpPr>
        <p:spPr>
          <a:xfrm>
            <a:off x="8714232" y="3328416"/>
            <a:ext cx="2816352" cy="228600"/>
          </a:xfrm>
          <a:prstGeom prst="rect">
            <a:avLst/>
          </a:prstGeom>
          <a:noFill/>
          <a:ln/>
        </p:spPr>
        <p:txBody>
          <a:bodyPr wrap="square" lIns="0" tIns="0" rIns="0" bIns="0" rtlCol="0" anchor="ctr"/>
          <a:lstStyle/>
          <a:p>
            <a:pPr algn="l" indent="0" marL="0">
              <a:buNone/>
            </a:pPr>
            <a:r>
              <a:rPr lang="en-US" sz="1050" dirty="0">
                <a:solidFill>
                  <a:schemeClr val="bg2"/>
                </a:solidFill>
              </a:rPr>
              <a:t>bucket gridpulse-509202-uploads only</a:t>
            </a:r>
            <a:endParaRPr lang="en-US" sz="1050" dirty="0"/>
          </a:p>
        </p:txBody>
      </p:sp>
      <p:sp>
        <p:nvSpPr>
          <p:cNvPr id="44" name="text-117"/>
          <p:cNvSpPr txBox="1"/>
          <p:nvPr/>
        </p:nvSpPr>
        <p:spPr>
          <a:xfrm>
            <a:off x="8714232" y="3566160"/>
            <a:ext cx="2816352" cy="228600"/>
          </a:xfrm>
          <a:prstGeom prst="rect">
            <a:avLst/>
          </a:prstGeom>
          <a:noFill/>
          <a:ln/>
        </p:spPr>
        <p:txBody>
          <a:bodyPr wrap="square" lIns="0" tIns="0" rIns="0" bIns="0" rtlCol="0" anchor="ctr"/>
          <a:lstStyle/>
          <a:p>
            <a:pPr algn="l" indent="0" marL="0">
              <a:buNone/>
            </a:pPr>
            <a:r>
              <a:rPr lang="en-US" sz="1050" b="1" dirty="0">
                <a:solidFill>
                  <a:schemeClr val="accent1"/>
                </a:solidFill>
              </a:rPr>
              <a:t>storage.objectCreator + objectViewer</a:t>
            </a:r>
            <a:endParaRPr lang="en-US" sz="1050" dirty="0"/>
          </a:p>
        </p:txBody>
      </p:sp>
      <p:sp>
        <p:nvSpPr>
          <p:cNvPr id="45" name="arrow-118"/>
          <p:cNvSpPr/>
          <p:nvPr/>
        </p:nvSpPr>
        <p:spPr>
          <a:xfrm>
            <a:off x="8065008" y="3429000"/>
            <a:ext cx="100584" cy="91"/>
          </a:xfrm>
          <a:prstGeom prst="line">
            <a:avLst/>
          </a:prstGeom>
          <a:noFill/>
          <a:ln w="15875">
            <a:solidFill>
              <a:schemeClr val="accent1"/>
            </a:solidFill>
            <a:prstDash val="solid"/>
            <a:tailEnd type="triangle"/>
          </a:ln>
        </p:spPr>
      </p:sp>
      <p:sp>
        <p:nvSpPr>
          <p:cNvPr id="46" name="api-card-119"/>
          <p:cNvSpPr/>
          <p:nvPr/>
        </p:nvSpPr>
        <p:spPr>
          <a:xfrm>
            <a:off x="8183880" y="3977640"/>
            <a:ext cx="3456432" cy="914400"/>
          </a:xfrm>
          <a:prstGeom prst="roundRect">
            <a:avLst>
              <a:gd name="adj" fmla="val 8000"/>
            </a:avLst>
          </a:prstGeom>
          <a:solidFill>
            <a:schemeClr val="tx2"/>
          </a:solidFill>
          <a:ln w="9525">
            <a:solidFill>
              <a:schemeClr val="accent3"/>
            </a:solidFill>
            <a:prstDash val="solid"/>
          </a:ln>
        </p:spPr>
      </p:sp>
      <p:pic>
        <p:nvPicPr>
          <p:cNvPr id="47" name="icon-120" descr="preencoded.png">    </p:cNvPr>
          <p:cNvPicPr>
            <a:picLocks noChangeAspect="1"/>
          </p:cNvPicPr>
          <p:nvPr/>
        </p:nvPicPr>
        <p:blipFill>
          <a:blip r:embed="rId8"/>
          <a:stretch>
            <a:fillRect/>
          </a:stretch>
        </p:blipFill>
        <p:spPr>
          <a:xfrm>
            <a:off x="8330184" y="4133088"/>
            <a:ext cx="274320" cy="274320"/>
          </a:xfrm>
          <a:prstGeom prst="rect">
            <a:avLst/>
          </a:prstGeom>
        </p:spPr>
      </p:pic>
      <p:sp>
        <p:nvSpPr>
          <p:cNvPr id="48" name="text-121"/>
          <p:cNvSpPr txBox="1"/>
          <p:nvPr/>
        </p:nvSpPr>
        <p:spPr>
          <a:xfrm>
            <a:off x="8714232" y="4069080"/>
            <a:ext cx="2816352" cy="256032"/>
          </a:xfrm>
          <a:prstGeom prst="rect">
            <a:avLst/>
          </a:prstGeom>
          <a:noFill/>
          <a:ln/>
        </p:spPr>
        <p:txBody>
          <a:bodyPr wrap="square" lIns="0" tIns="0" rIns="0" bIns="0" rtlCol="0" anchor="ctr"/>
          <a:lstStyle/>
          <a:p>
            <a:pPr algn="l" indent="0" marL="0">
              <a:buNone/>
            </a:pPr>
            <a:r>
              <a:rPr lang="en-US" sz="1300" b="1" dirty="0">
                <a:solidFill>
                  <a:schemeClr val="bg1"/>
                </a:solidFill>
              </a:rPr>
              <a:t>Cloud SQL Admin API</a:t>
            </a:r>
            <a:endParaRPr lang="en-US" sz="1300" dirty="0"/>
          </a:p>
        </p:txBody>
      </p:sp>
      <p:sp>
        <p:nvSpPr>
          <p:cNvPr id="49" name="text-122"/>
          <p:cNvSpPr txBox="1"/>
          <p:nvPr/>
        </p:nvSpPr>
        <p:spPr>
          <a:xfrm>
            <a:off x="8714232" y="4334256"/>
            <a:ext cx="2816352" cy="228600"/>
          </a:xfrm>
          <a:prstGeom prst="rect">
            <a:avLst/>
          </a:prstGeom>
          <a:noFill/>
          <a:ln/>
        </p:spPr>
        <p:txBody>
          <a:bodyPr wrap="square" lIns="0" tIns="0" rIns="0" bIns="0" rtlCol="0" anchor="ctr"/>
          <a:lstStyle/>
          <a:p>
            <a:pPr algn="l" indent="0" marL="0">
              <a:buNone/>
            </a:pPr>
            <a:r>
              <a:rPr lang="en-US" sz="1050" dirty="0">
                <a:solidFill>
                  <a:schemeClr val="bg2"/>
                </a:solidFill>
              </a:rPr>
              <a:t>project · looks up the private IP</a:t>
            </a:r>
            <a:endParaRPr lang="en-US" sz="1050" dirty="0"/>
          </a:p>
        </p:txBody>
      </p:sp>
      <p:sp>
        <p:nvSpPr>
          <p:cNvPr id="50" name="text-123"/>
          <p:cNvSpPr txBox="1"/>
          <p:nvPr/>
        </p:nvSpPr>
        <p:spPr>
          <a:xfrm>
            <a:off x="8714232" y="4572000"/>
            <a:ext cx="2816352" cy="228600"/>
          </a:xfrm>
          <a:prstGeom prst="rect">
            <a:avLst/>
          </a:prstGeom>
          <a:noFill/>
          <a:ln/>
        </p:spPr>
        <p:txBody>
          <a:bodyPr wrap="square" lIns="0" tIns="0" rIns="0" bIns="0" rtlCol="0" anchor="ctr"/>
          <a:lstStyle/>
          <a:p>
            <a:pPr algn="l" indent="0" marL="0">
              <a:buNone/>
            </a:pPr>
            <a:r>
              <a:rPr lang="en-US" sz="1050" b="1" dirty="0">
                <a:solidFill>
                  <a:schemeClr val="accent1"/>
                </a:solidFill>
              </a:rPr>
              <a:t>roles/cloudsql.client</a:t>
            </a:r>
            <a:endParaRPr lang="en-US" sz="1050" dirty="0"/>
          </a:p>
        </p:txBody>
      </p:sp>
      <p:sp>
        <p:nvSpPr>
          <p:cNvPr id="51" name="arrow-124"/>
          <p:cNvSpPr/>
          <p:nvPr/>
        </p:nvSpPr>
        <p:spPr>
          <a:xfrm>
            <a:off x="8065008" y="4434840"/>
            <a:ext cx="100584" cy="91"/>
          </a:xfrm>
          <a:prstGeom prst="line">
            <a:avLst/>
          </a:prstGeom>
          <a:noFill/>
          <a:ln w="15875">
            <a:solidFill>
              <a:schemeClr val="accent1"/>
            </a:solidFill>
            <a:prstDash val="solid"/>
            <a:tailEnd type="triangle"/>
          </a:ln>
        </p:spPr>
      </p:sp>
      <p:sp>
        <p:nvSpPr>
          <p:cNvPr id="52" name="api-card-125"/>
          <p:cNvSpPr/>
          <p:nvPr/>
        </p:nvSpPr>
        <p:spPr>
          <a:xfrm>
            <a:off x="8183880" y="4983480"/>
            <a:ext cx="3456432" cy="914400"/>
          </a:xfrm>
          <a:prstGeom prst="roundRect">
            <a:avLst>
              <a:gd name="adj" fmla="val 8000"/>
            </a:avLst>
          </a:prstGeom>
          <a:solidFill>
            <a:schemeClr val="tx2"/>
          </a:solidFill>
          <a:ln w="9525">
            <a:solidFill>
              <a:schemeClr val="accent3"/>
            </a:solidFill>
            <a:prstDash val="solid"/>
          </a:ln>
        </p:spPr>
      </p:sp>
      <p:pic>
        <p:nvPicPr>
          <p:cNvPr id="53" name="icon-126" descr="preencoded.png">    </p:cNvPr>
          <p:cNvPicPr>
            <a:picLocks noChangeAspect="1"/>
          </p:cNvPicPr>
          <p:nvPr/>
        </p:nvPicPr>
        <p:blipFill>
          <a:blip r:embed="rId9"/>
          <a:stretch>
            <a:fillRect/>
          </a:stretch>
        </p:blipFill>
        <p:spPr>
          <a:xfrm>
            <a:off x="8330184" y="5138928"/>
            <a:ext cx="274320" cy="274320"/>
          </a:xfrm>
          <a:prstGeom prst="rect">
            <a:avLst/>
          </a:prstGeom>
        </p:spPr>
      </p:pic>
      <p:sp>
        <p:nvSpPr>
          <p:cNvPr id="54" name="text-127"/>
          <p:cNvSpPr txBox="1"/>
          <p:nvPr/>
        </p:nvSpPr>
        <p:spPr>
          <a:xfrm>
            <a:off x="8714232" y="5074920"/>
            <a:ext cx="2816352" cy="256032"/>
          </a:xfrm>
          <a:prstGeom prst="rect">
            <a:avLst/>
          </a:prstGeom>
          <a:noFill/>
          <a:ln/>
        </p:spPr>
        <p:txBody>
          <a:bodyPr wrap="square" lIns="0" tIns="0" rIns="0" bIns="0" rtlCol="0" anchor="ctr"/>
          <a:lstStyle/>
          <a:p>
            <a:pPr algn="l" indent="0" marL="0">
              <a:buNone/>
            </a:pPr>
            <a:r>
              <a:rPr lang="en-US" sz="1300" b="1" dirty="0">
                <a:solidFill>
                  <a:schemeClr val="bg1"/>
                </a:solidFill>
              </a:rPr>
              <a:t>Artifact Registry</a:t>
            </a:r>
            <a:endParaRPr lang="en-US" sz="1300" dirty="0"/>
          </a:p>
        </p:txBody>
      </p:sp>
      <p:sp>
        <p:nvSpPr>
          <p:cNvPr id="55" name="text-128"/>
          <p:cNvSpPr txBox="1"/>
          <p:nvPr/>
        </p:nvSpPr>
        <p:spPr>
          <a:xfrm>
            <a:off x="8714232" y="5340096"/>
            <a:ext cx="2816352" cy="228600"/>
          </a:xfrm>
          <a:prstGeom prst="rect">
            <a:avLst/>
          </a:prstGeom>
          <a:noFill/>
          <a:ln/>
        </p:spPr>
        <p:txBody>
          <a:bodyPr wrap="square" lIns="0" tIns="0" rIns="0" bIns="0" rtlCol="0" anchor="ctr"/>
          <a:lstStyle/>
          <a:p>
            <a:pPr algn="l" indent="0" marL="0">
              <a:buNone/>
            </a:pPr>
            <a:r>
              <a:rPr lang="en-US" sz="1050" dirty="0">
                <a:solidFill>
                  <a:schemeClr val="bg2"/>
                </a:solidFill>
              </a:rPr>
              <a:t>repository gridpulse only</a:t>
            </a:r>
            <a:endParaRPr lang="en-US" sz="1050" dirty="0"/>
          </a:p>
        </p:txBody>
      </p:sp>
      <p:sp>
        <p:nvSpPr>
          <p:cNvPr id="56" name="text-129"/>
          <p:cNvSpPr txBox="1"/>
          <p:nvPr/>
        </p:nvSpPr>
        <p:spPr>
          <a:xfrm>
            <a:off x="8714232" y="5577840"/>
            <a:ext cx="2816352" cy="228600"/>
          </a:xfrm>
          <a:prstGeom prst="rect">
            <a:avLst/>
          </a:prstGeom>
          <a:noFill/>
          <a:ln/>
        </p:spPr>
        <p:txBody>
          <a:bodyPr wrap="square" lIns="0" tIns="0" rIns="0" bIns="0" rtlCol="0" anchor="ctr"/>
          <a:lstStyle/>
          <a:p>
            <a:pPr algn="l" indent="0" marL="0">
              <a:buNone/>
            </a:pPr>
            <a:r>
              <a:rPr lang="en-US" sz="1050" b="1" dirty="0">
                <a:solidFill>
                  <a:schemeClr val="accent1"/>
                </a:solidFill>
              </a:rPr>
              <a:t>roles/artifactregistry.reader</a:t>
            </a:r>
            <a:endParaRPr lang="en-US" sz="1050" dirty="0"/>
          </a:p>
        </p:txBody>
      </p:sp>
      <p:sp>
        <p:nvSpPr>
          <p:cNvPr id="57" name="arrow-130"/>
          <p:cNvSpPr/>
          <p:nvPr/>
        </p:nvSpPr>
        <p:spPr>
          <a:xfrm>
            <a:off x="8065008" y="5440680"/>
            <a:ext cx="100584" cy="91"/>
          </a:xfrm>
          <a:prstGeom prst="line">
            <a:avLst/>
          </a:prstGeom>
          <a:noFill/>
          <a:ln w="15875">
            <a:solidFill>
              <a:schemeClr val="accent1"/>
            </a:solidFill>
            <a:prstDash val="solid"/>
            <a:tailEnd type="triangle"/>
          </a:ln>
        </p:spPr>
      </p:sp>
      <p:sp>
        <p:nvSpPr>
          <p:cNvPr id="58" name="arrow-131"/>
          <p:cNvSpPr/>
          <p:nvPr/>
        </p:nvSpPr>
        <p:spPr>
          <a:xfrm>
            <a:off x="8065008" y="2423160"/>
            <a:ext cx="91" cy="3017520"/>
          </a:xfrm>
          <a:prstGeom prst="line">
            <a:avLst/>
          </a:prstGeom>
          <a:noFill/>
          <a:ln w="15875">
            <a:solidFill>
              <a:schemeClr val="accent1"/>
            </a:solidFill>
            <a:prstDash val="solid"/>
          </a:ln>
        </p:spPr>
      </p:sp>
      <p:sp>
        <p:nvSpPr>
          <p:cNvPr id="59" name="arrow-132"/>
          <p:cNvSpPr/>
          <p:nvPr/>
        </p:nvSpPr>
        <p:spPr>
          <a:xfrm>
            <a:off x="7589520" y="2852928"/>
            <a:ext cx="475488" cy="91"/>
          </a:xfrm>
          <a:prstGeom prst="line">
            <a:avLst/>
          </a:prstGeom>
          <a:noFill/>
          <a:ln w="15875">
            <a:solidFill>
              <a:schemeClr val="accent1"/>
            </a:solidFill>
            <a:prstDash val="solid"/>
          </a:ln>
        </p:spPr>
      </p:sp>
      <p:sp>
        <p:nvSpPr>
          <p:cNvPr id="60" name="text-133"/>
          <p:cNvSpPr txBox="1"/>
          <p:nvPr/>
        </p:nvSpPr>
        <p:spPr>
          <a:xfrm>
            <a:off x="8183880" y="5971032"/>
            <a:ext cx="3456432" cy="384048"/>
          </a:xfrm>
          <a:prstGeom prst="rect">
            <a:avLst/>
          </a:prstGeom>
          <a:noFill/>
          <a:ln/>
        </p:spPr>
        <p:txBody>
          <a:bodyPr wrap="square" lIns="0" tIns="0" rIns="0" bIns="0" rtlCol="0" anchor="t"/>
          <a:lstStyle/>
          <a:p>
            <a:pPr algn="l" indent="0" marL="0">
              <a:buNone/>
            </a:pPr>
            <a:r>
              <a:rPr lang="en-US" sz="1050" i="1" dirty="0">
                <a:solidFill>
                  <a:schemeClr val="bg2"/>
                </a:solidFill>
              </a:rPr>
              <a:t>Not granted: the root-password secret, bucket admin, deleting objects, project Editor.</a:t>
            </a:r>
            <a:endParaRPr lang="en-US" sz="1050" dirty="0"/>
          </a:p>
        </p:txBody>
      </p:sp>
    </p:spTree>
  </p:cSld>
  <p:clrMapOvr>
    <a:masterClrMapping/>
  </p:clrMapOvr>
</p:sld>
</file>

<file path=ppt/theme/theme1.xml><?xml version="1.0" encoding="utf-8"?>
<a:theme xmlns:a="http://schemas.openxmlformats.org/drawingml/2006/main" name="GridPulse Control Room">
  <a:themeElements>
    <a:clrScheme name="GridPulse Control Room">
      <a:dk1>
        <a:srgbClr val="0C1420"/>
      </a:dk1>
      <a:lt1>
        <a:srgbClr val="EAF1F7"/>
      </a:lt1>
      <a:dk2>
        <a:srgbClr val="121D2E"/>
      </a:dk2>
      <a:lt2>
        <a:srgbClr val="8EA0B8"/>
      </a:lt2>
      <a:accent1>
        <a:srgbClr val="4FD1C5"/>
      </a:accent1>
      <a:accent2>
        <a:srgbClr val="FFB454"/>
      </a:accent2>
      <a:accent3>
        <a:srgbClr val="24374F"/>
      </a:accent3>
      <a:accent4>
        <a:srgbClr val="1A2A40"/>
      </a:accent4>
      <a:accent5>
        <a:srgbClr val="F27C6B"/>
      </a:accent5>
      <a:accent6>
        <a:srgbClr val="9BE7DF"/>
      </a:accent6>
      <a:hlink>
        <a:srgbClr val="4FD1C5"/>
      </a:hlink>
      <a:folHlink>
        <a:srgbClr val="8EA0B8"/>
      </a:folHlink>
    </a:clrScheme>
    <a:fontScheme name="GridPulse Control Roo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GridPulse - Milestone 4: Managed State</dc:title>
  <dc:subject>PptxGenJS Presentation</dc:subject>
  <dc:creator>GridPulse team</dc:creator>
  <cp:lastModifiedBy>GridPulse team</cp:lastModifiedBy>
  <cp:revision>1</cp:revision>
  <dcterms:created xsi:type="dcterms:W3CDTF">2026-10-14T19:45:21Z</dcterms:created>
  <dcterms:modified xsi:type="dcterms:W3CDTF">2026-10-14T19:45:21Z</dcterms:modified>
</cp:coreProperties>
</file>