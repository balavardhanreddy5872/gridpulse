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lestone 3" id="{cad2b8d9-3f9d-43b9-6c34-ec1ccef882c8}">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containers from one compose file. Browser hits nginx on port 80; nginx serves the React build and forwards /api/* to the backend over web-net. The backend talks to Postgres over data-net; the database has no host port, and the frontend cannot reach it. Two named volumes keep the database and uploaded PDFs across restarts and upgrades. The images are built for linux/amd64 on the laptop, pushed to Artifact Registry as v1, and pulled unchanged on the VM, so the digest matches on both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Milestone 2 took — six manual stages on the VM, all of which had to be repeated on any new machine. Right: Milestone 3 — build and push once from the laptop, then git pull and one deploy script on the VM. The VM only needs Docker. The specific problem this solved for us was the hard-coded API URL in the React build; relative /api paths plus the nginx proxy mean the exact same frontend image works on localhost and on the VM. Also mention: our M-series Macs build arm64 by default, so we pin linux/amd64 to match the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0C14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987552"/>
            <a:ext cx="11091672"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400" b="1" dirty="0">
                <a:solidFill>
                  <a:schemeClr val="bg1"/>
                </a:solidFill>
              </a:rPr>
              <a:t>Container architecture</a:t>
            </a:r>
            <a:endParaRPr lang="en-US" sz="3400" dirty="0"/>
          </a:p>
        </p:txBody>
      </p:sp>
      <p:sp>
        <p:nvSpPr>
          <p:cNvPr id="3" name="Text 0"/>
          <p:cNvSpPr/>
          <p:nvPr>
            <p:ph idx="101" type="body" hasCustomPrompt="1"/>
          </p:nvPr>
        </p:nvSpPr>
        <p:spPr>
          <a:xfrm>
            <a:off x="548640" y="987552"/>
            <a:ext cx="11091672" cy="365760"/>
          </a:xfrm>
          <a:prstGeom prst="rect">
            <a:avLst/>
          </a:prstGeom>
          <a:noFill/>
          <a:ln/>
        </p:spPr>
        <p:txBody>
          <a:bodyPr wrap="square" lIns="0" tIns="0" rIns="0" bIns="0" rtlCol="0" anchor="t"/>
          <a:lstStyle/>
          <a:p>
            <a:pPr algn="l" indent="0" marL="0">
              <a:buNone/>
            </a:pPr>
            <a:r>
              <a:rPr lang="en-US" sz="1400" dirty="0">
                <a:solidFill>
                  <a:schemeClr val="bg2"/>
                </a:solidFill>
              </a:rPr>
              <a:t>One docker-compose.yml · three containers · two networks · two volumes — identical on the laptop and the VM</a:t>
            </a:r>
            <a:endParaRPr lang="en-US" sz="1400" dirty="0"/>
          </a:p>
        </p:txBody>
      </p:sp>
      <p:sp>
        <p:nvSpPr>
          <p:cNvPr id="4" name="Docker host frame"/>
          <p:cNvSpPr/>
          <p:nvPr/>
        </p:nvSpPr>
        <p:spPr>
          <a:xfrm>
            <a:off x="2331720" y="1572768"/>
            <a:ext cx="9308592" cy="3456432"/>
          </a:xfrm>
          <a:prstGeom prst="roundRect">
            <a:avLst>
              <a:gd name="adj" fmla="val 1587"/>
            </a:avLst>
          </a:prstGeom>
          <a:solidFill>
            <a:srgbClr val="0C1420"/>
          </a:solidFill>
          <a:ln w="15875">
            <a:solidFill>
              <a:schemeClr val="accent3"/>
            </a:solidFill>
            <a:prstDash val="dash"/>
          </a:ln>
        </p:spPr>
      </p:sp>
      <p:sp>
        <p:nvSpPr>
          <p:cNvPr id="5" name="Host label"/>
          <p:cNvSpPr txBox="1"/>
          <p:nvPr/>
        </p:nvSpPr>
        <p:spPr>
          <a:xfrm>
            <a:off x="2560320" y="1700784"/>
            <a:ext cx="8778240" cy="256032"/>
          </a:xfrm>
          <a:prstGeom prst="rect">
            <a:avLst/>
          </a:prstGeom>
          <a:noFill/>
          <a:ln/>
        </p:spPr>
        <p:txBody>
          <a:bodyPr wrap="square" lIns="0" tIns="0" rIns="0" bIns="0" rtlCol="0" anchor="t"/>
          <a:lstStyle/>
          <a:p>
            <a:pPr indent="0" marL="0">
              <a:buNone/>
            </a:pPr>
            <a:r>
              <a:rPr lang="en-US" sz="1100" b="1" spc="150" kern="0" dirty="0">
                <a:solidFill>
                  <a:schemeClr val="bg2"/>
                </a:solidFill>
              </a:rPr>
              <a:t>DOCKER HOST  ·  MacBook (local)  =  gridpulse-vm (us-central1-a)</a:t>
            </a:r>
            <a:endParaRPr lang="en-US" sz="1100" dirty="0"/>
          </a:p>
        </p:txBody>
      </p:sp>
      <p:pic>
        <p:nvPicPr>
          <p:cNvPr id="6" name="Browser icon" descr="preencoded.png">    </p:cNvPr>
          <p:cNvPicPr>
            <a:picLocks noChangeAspect="1"/>
          </p:cNvPicPr>
          <p:nvPr/>
        </p:nvPicPr>
        <p:blipFill>
          <a:blip r:embed="rId1"/>
          <a:stretch>
            <a:fillRect/>
          </a:stretch>
        </p:blipFill>
        <p:spPr>
          <a:xfrm>
            <a:off x="1005840" y="2395728"/>
            <a:ext cx="548640" cy="548640"/>
          </a:xfrm>
          <a:prstGeom prst="rect">
            <a:avLst/>
          </a:prstGeom>
        </p:spPr>
      </p:pic>
      <p:sp>
        <p:nvSpPr>
          <p:cNvPr id="7" name="Browser label"/>
          <p:cNvSpPr txBox="1"/>
          <p:nvPr/>
        </p:nvSpPr>
        <p:spPr>
          <a:xfrm>
            <a:off x="548640" y="3017520"/>
            <a:ext cx="1463040" cy="274320"/>
          </a:xfrm>
          <a:prstGeom prst="rect">
            <a:avLst/>
          </a:prstGeom>
          <a:noFill/>
          <a:ln/>
        </p:spPr>
        <p:txBody>
          <a:bodyPr wrap="square" lIns="0" tIns="0" rIns="0" bIns="0" rtlCol="0" anchor="t"/>
          <a:lstStyle/>
          <a:p>
            <a:pPr algn="ctr" indent="0" marL="0">
              <a:buNone/>
            </a:pPr>
            <a:r>
              <a:rPr lang="en-US" sz="1500" b="1" dirty="0">
                <a:solidFill>
                  <a:schemeClr val="bg1"/>
                </a:solidFill>
              </a:rPr>
              <a:t>Browser</a:t>
            </a:r>
            <a:endParaRPr lang="en-US" sz="1500" dirty="0"/>
          </a:p>
        </p:txBody>
      </p:sp>
      <p:sp>
        <p:nvSpPr>
          <p:cNvPr id="8" name="Firewall note"/>
          <p:cNvSpPr txBox="1"/>
          <p:nvPr/>
        </p:nvSpPr>
        <p:spPr>
          <a:xfrm>
            <a:off x="548640" y="3310128"/>
            <a:ext cx="1463040" cy="457200"/>
          </a:xfrm>
          <a:prstGeom prst="rect">
            <a:avLst/>
          </a:prstGeom>
          <a:noFill/>
          <a:ln/>
        </p:spPr>
        <p:txBody>
          <a:bodyPr wrap="square" lIns="0" tIns="0" rIns="0" bIns="0" rtlCol="0" anchor="t"/>
          <a:lstStyle/>
          <a:p>
            <a:pPr algn="ctr" indent="0" marL="0">
              <a:buNone/>
            </a:pPr>
            <a:r>
              <a:rPr lang="en-US" sz="1050" dirty="0">
                <a:solidFill>
                  <a:schemeClr val="bg2"/>
                </a:solidFill>
              </a:rPr>
              <a:t>firewall: team IPs only</a:t>
            </a:r>
            <a:endParaRPr lang="en-US" sz="1050" dirty="0"/>
          </a:p>
        </p:txBody>
      </p:sp>
      <p:sp>
        <p:nvSpPr>
          <p:cNvPr id="9" name="frontend card"/>
          <p:cNvSpPr/>
          <p:nvPr/>
        </p:nvSpPr>
        <p:spPr>
          <a:xfrm>
            <a:off x="2651760" y="2148840"/>
            <a:ext cx="2377440" cy="1508760"/>
          </a:xfrm>
          <a:prstGeom prst="roundRect">
            <a:avLst>
              <a:gd name="adj" fmla="val 3636"/>
            </a:avLst>
          </a:prstGeom>
          <a:solidFill>
            <a:schemeClr val="tx2"/>
          </a:solidFill>
          <a:ln w="12700">
            <a:solidFill>
              <a:schemeClr val="accent3"/>
            </a:solidFill>
            <a:prstDash val="solid"/>
          </a:ln>
        </p:spPr>
      </p:sp>
      <p:pic>
        <p:nvPicPr>
          <p:cNvPr id="10" name="frontend icon" descr="preencoded.png">    </p:cNvPr>
          <p:cNvPicPr>
            <a:picLocks noChangeAspect="1"/>
          </p:cNvPicPr>
          <p:nvPr/>
        </p:nvPicPr>
        <p:blipFill>
          <a:blip r:embed="rId2"/>
          <a:stretch>
            <a:fillRect/>
          </a:stretch>
        </p:blipFill>
        <p:spPr>
          <a:xfrm>
            <a:off x="2834640" y="2331720"/>
            <a:ext cx="329184" cy="329184"/>
          </a:xfrm>
          <a:prstGeom prst="rect">
            <a:avLst/>
          </a:prstGeom>
        </p:spPr>
      </p:pic>
      <p:sp>
        <p:nvSpPr>
          <p:cNvPr id="11" name="frontend name"/>
          <p:cNvSpPr txBox="1"/>
          <p:nvPr/>
        </p:nvSpPr>
        <p:spPr>
          <a:xfrm>
            <a:off x="3255264" y="2304288"/>
            <a:ext cx="1097280" cy="384048"/>
          </a:xfrm>
          <a:prstGeom prst="rect">
            <a:avLst/>
          </a:prstGeom>
          <a:noFill/>
          <a:ln/>
        </p:spPr>
        <p:txBody>
          <a:bodyPr wrap="square" lIns="0" tIns="0" rIns="0" bIns="0" rtlCol="0" anchor="ctr"/>
          <a:lstStyle/>
          <a:p>
            <a:pPr indent="0" marL="0">
              <a:buNone/>
            </a:pPr>
            <a:r>
              <a:rPr lang="en-US" sz="1700" b="1" dirty="0">
                <a:solidFill>
                  <a:schemeClr val="bg1"/>
                </a:solidFill>
              </a:rPr>
              <a:t>frontend</a:t>
            </a:r>
            <a:endParaRPr lang="en-US" sz="1700" dirty="0"/>
          </a:p>
        </p:txBody>
      </p:sp>
      <p:sp>
        <p:nvSpPr>
          <p:cNvPr id="12" name="frontend port badge"/>
          <p:cNvSpPr/>
          <p:nvPr/>
        </p:nvSpPr>
        <p:spPr>
          <a:xfrm>
            <a:off x="4187952" y="2350008"/>
            <a:ext cx="658368" cy="310896"/>
          </a:xfrm>
          <a:prstGeom prst="roundRect">
            <a:avLst>
              <a:gd name="adj" fmla="val 17647"/>
            </a:avLst>
          </a:prstGeom>
          <a:solidFill>
            <a:schemeClr val="accent1"/>
          </a:solidFill>
          <a:ln w="6350">
            <a:solidFill>
              <a:schemeClr val="accent1"/>
            </a:solidFill>
            <a:prstDash val="solid"/>
          </a:ln>
        </p:spPr>
      </p:sp>
      <p:sp>
        <p:nvSpPr>
          <p:cNvPr id="13" name="frontend port text"/>
          <p:cNvSpPr txBox="1"/>
          <p:nvPr/>
        </p:nvSpPr>
        <p:spPr>
          <a:xfrm>
            <a:off x="4187952" y="2350008"/>
            <a:ext cx="658368" cy="310896"/>
          </a:xfrm>
          <a:prstGeom prst="rect">
            <a:avLst/>
          </a:prstGeom>
          <a:noFill/>
          <a:ln/>
        </p:spPr>
        <p:txBody>
          <a:bodyPr wrap="square" lIns="0" tIns="0" rIns="0" bIns="0" rtlCol="0" anchor="ctr"/>
          <a:lstStyle/>
          <a:p>
            <a:pPr algn="ctr" indent="0" marL="0">
              <a:buNone/>
            </a:pPr>
            <a:r>
              <a:rPr lang="en-US" sz="1200" b="1" dirty="0">
                <a:solidFill>
                  <a:schemeClr val="tx1"/>
                </a:solidFill>
              </a:rPr>
              <a:t>:80</a:t>
            </a:r>
            <a:endParaRPr lang="en-US" sz="1200" dirty="0"/>
          </a:p>
        </p:txBody>
      </p:sp>
      <p:sp>
        <p:nvSpPr>
          <p:cNvPr id="14" name="frontend image"/>
          <p:cNvSpPr txBox="1"/>
          <p:nvPr/>
        </p:nvSpPr>
        <p:spPr>
          <a:xfrm>
            <a:off x="2834640" y="2788920"/>
            <a:ext cx="2011680" cy="256032"/>
          </a:xfrm>
          <a:prstGeom prst="rect">
            <a:avLst/>
          </a:prstGeom>
          <a:noFill/>
          <a:ln/>
        </p:spPr>
        <p:txBody>
          <a:bodyPr wrap="square" lIns="0" tIns="0" rIns="0" bIns="0" rtlCol="0" anchor="t"/>
          <a:lstStyle/>
          <a:p>
            <a:pPr indent="0" marL="0">
              <a:buNone/>
            </a:pPr>
            <a:r>
              <a:rPr lang="en-US" sz="1250" b="1" dirty="0">
                <a:solidFill>
                  <a:schemeClr val="accent1"/>
                </a:solidFill>
              </a:rPr>
              <a:t>gridpulse-frontend:v1</a:t>
            </a:r>
            <a:endParaRPr lang="en-US" sz="1250" dirty="0"/>
          </a:p>
        </p:txBody>
      </p:sp>
      <p:sp>
        <p:nvSpPr>
          <p:cNvPr id="15" name="frontend detail"/>
          <p:cNvSpPr txBox="1"/>
          <p:nvPr/>
        </p:nvSpPr>
        <p:spPr>
          <a:xfrm>
            <a:off x="2834640" y="3063240"/>
            <a:ext cx="2011680" cy="256032"/>
          </a:xfrm>
          <a:prstGeom prst="rect">
            <a:avLst/>
          </a:prstGeom>
          <a:noFill/>
          <a:ln/>
        </p:spPr>
        <p:txBody>
          <a:bodyPr wrap="square" lIns="0" tIns="0" rIns="0" bIns="0" rtlCol="0" anchor="t"/>
          <a:lstStyle/>
          <a:p>
            <a:pPr indent="0" marL="0">
              <a:buNone/>
            </a:pPr>
            <a:r>
              <a:rPr lang="en-US" sz="1150" dirty="0">
                <a:solidFill>
                  <a:schemeClr val="bg1"/>
                </a:solidFill>
              </a:rPr>
              <a:t>nginx 1.27 + React build</a:t>
            </a:r>
            <a:endParaRPr lang="en-US" sz="1150" dirty="0"/>
          </a:p>
        </p:txBody>
      </p:sp>
      <p:sp>
        <p:nvSpPr>
          <p:cNvPr id="16" name="frontend line4"/>
          <p:cNvSpPr txBox="1"/>
          <p:nvPr/>
        </p:nvSpPr>
        <p:spPr>
          <a:xfrm>
            <a:off x="2834640" y="3319272"/>
            <a:ext cx="2011680" cy="256032"/>
          </a:xfrm>
          <a:prstGeom prst="rect">
            <a:avLst/>
          </a:prstGeom>
          <a:noFill/>
          <a:ln/>
        </p:spPr>
        <p:txBody>
          <a:bodyPr wrap="square" lIns="0" tIns="0" rIns="0" bIns="0" rtlCol="0" anchor="t"/>
          <a:lstStyle/>
          <a:p>
            <a:pPr indent="0" marL="0">
              <a:buNone/>
            </a:pPr>
            <a:r>
              <a:rPr lang="en-US" sz="1150" dirty="0">
                <a:solidFill>
                  <a:schemeClr val="bg2"/>
                </a:solidFill>
              </a:rPr>
              <a:t>serves UI · proxies /api/*</a:t>
            </a:r>
            <a:endParaRPr lang="en-US" sz="1150" dirty="0"/>
          </a:p>
        </p:txBody>
      </p:sp>
      <p:sp>
        <p:nvSpPr>
          <p:cNvPr id="17" name="backend card"/>
          <p:cNvSpPr/>
          <p:nvPr/>
        </p:nvSpPr>
        <p:spPr>
          <a:xfrm>
            <a:off x="5715000" y="2148840"/>
            <a:ext cx="2377440" cy="1508760"/>
          </a:xfrm>
          <a:prstGeom prst="roundRect">
            <a:avLst>
              <a:gd name="adj" fmla="val 3636"/>
            </a:avLst>
          </a:prstGeom>
          <a:solidFill>
            <a:schemeClr val="tx2"/>
          </a:solidFill>
          <a:ln w="12700">
            <a:solidFill>
              <a:schemeClr val="accent3"/>
            </a:solidFill>
            <a:prstDash val="solid"/>
          </a:ln>
        </p:spPr>
      </p:sp>
      <p:pic>
        <p:nvPicPr>
          <p:cNvPr id="18" name="backend icon" descr="preencoded.png">    </p:cNvPr>
          <p:cNvPicPr>
            <a:picLocks noChangeAspect="1"/>
          </p:cNvPicPr>
          <p:nvPr/>
        </p:nvPicPr>
        <p:blipFill>
          <a:blip r:embed="rId3"/>
          <a:stretch>
            <a:fillRect/>
          </a:stretch>
        </p:blipFill>
        <p:spPr>
          <a:xfrm>
            <a:off x="5897880" y="2331720"/>
            <a:ext cx="329184" cy="329184"/>
          </a:xfrm>
          <a:prstGeom prst="rect">
            <a:avLst/>
          </a:prstGeom>
        </p:spPr>
      </p:pic>
      <p:sp>
        <p:nvSpPr>
          <p:cNvPr id="19" name="backend name"/>
          <p:cNvSpPr txBox="1"/>
          <p:nvPr/>
        </p:nvSpPr>
        <p:spPr>
          <a:xfrm>
            <a:off x="6318504" y="2304288"/>
            <a:ext cx="1097280" cy="384048"/>
          </a:xfrm>
          <a:prstGeom prst="rect">
            <a:avLst/>
          </a:prstGeom>
          <a:noFill/>
          <a:ln/>
        </p:spPr>
        <p:txBody>
          <a:bodyPr wrap="square" lIns="0" tIns="0" rIns="0" bIns="0" rtlCol="0" anchor="ctr"/>
          <a:lstStyle/>
          <a:p>
            <a:pPr indent="0" marL="0">
              <a:buNone/>
            </a:pPr>
            <a:r>
              <a:rPr lang="en-US" sz="1700" b="1" dirty="0">
                <a:solidFill>
                  <a:schemeClr val="bg1"/>
                </a:solidFill>
              </a:rPr>
              <a:t>backend</a:t>
            </a:r>
            <a:endParaRPr lang="en-US" sz="1700" dirty="0"/>
          </a:p>
        </p:txBody>
      </p:sp>
      <p:sp>
        <p:nvSpPr>
          <p:cNvPr id="20" name="backend port badge"/>
          <p:cNvSpPr/>
          <p:nvPr/>
        </p:nvSpPr>
        <p:spPr>
          <a:xfrm>
            <a:off x="7251192" y="2350008"/>
            <a:ext cx="658368" cy="310896"/>
          </a:xfrm>
          <a:prstGeom prst="roundRect">
            <a:avLst>
              <a:gd name="adj" fmla="val 17647"/>
            </a:avLst>
          </a:prstGeom>
          <a:solidFill>
            <a:schemeClr val="accent1"/>
          </a:solidFill>
          <a:ln w="6350">
            <a:solidFill>
              <a:schemeClr val="accent1"/>
            </a:solidFill>
            <a:prstDash val="solid"/>
          </a:ln>
        </p:spPr>
      </p:sp>
      <p:sp>
        <p:nvSpPr>
          <p:cNvPr id="21" name="backend port text"/>
          <p:cNvSpPr txBox="1"/>
          <p:nvPr/>
        </p:nvSpPr>
        <p:spPr>
          <a:xfrm>
            <a:off x="7251192" y="2350008"/>
            <a:ext cx="658368" cy="310896"/>
          </a:xfrm>
          <a:prstGeom prst="rect">
            <a:avLst/>
          </a:prstGeom>
          <a:noFill/>
          <a:ln/>
        </p:spPr>
        <p:txBody>
          <a:bodyPr wrap="square" lIns="0" tIns="0" rIns="0" bIns="0" rtlCol="0" anchor="ctr"/>
          <a:lstStyle/>
          <a:p>
            <a:pPr algn="ctr" indent="0" marL="0">
              <a:buNone/>
            </a:pPr>
            <a:r>
              <a:rPr lang="en-US" sz="1200" b="1" dirty="0">
                <a:solidFill>
                  <a:schemeClr val="tx1"/>
                </a:solidFill>
              </a:rPr>
              <a:t>:8000</a:t>
            </a:r>
            <a:endParaRPr lang="en-US" sz="1200" dirty="0"/>
          </a:p>
        </p:txBody>
      </p:sp>
      <p:sp>
        <p:nvSpPr>
          <p:cNvPr id="22" name="backend image"/>
          <p:cNvSpPr txBox="1"/>
          <p:nvPr/>
        </p:nvSpPr>
        <p:spPr>
          <a:xfrm>
            <a:off x="5897880" y="2788920"/>
            <a:ext cx="2011680" cy="256032"/>
          </a:xfrm>
          <a:prstGeom prst="rect">
            <a:avLst/>
          </a:prstGeom>
          <a:noFill/>
          <a:ln/>
        </p:spPr>
        <p:txBody>
          <a:bodyPr wrap="square" lIns="0" tIns="0" rIns="0" bIns="0" rtlCol="0" anchor="t"/>
          <a:lstStyle/>
          <a:p>
            <a:pPr indent="0" marL="0">
              <a:buNone/>
            </a:pPr>
            <a:r>
              <a:rPr lang="en-US" sz="1250" b="1" dirty="0">
                <a:solidFill>
                  <a:schemeClr val="accent1"/>
                </a:solidFill>
              </a:rPr>
              <a:t>gridpulse-backend:v1</a:t>
            </a:r>
            <a:endParaRPr lang="en-US" sz="1250" dirty="0"/>
          </a:p>
        </p:txBody>
      </p:sp>
      <p:sp>
        <p:nvSpPr>
          <p:cNvPr id="23" name="backend detail"/>
          <p:cNvSpPr txBox="1"/>
          <p:nvPr/>
        </p:nvSpPr>
        <p:spPr>
          <a:xfrm>
            <a:off x="5897880" y="3063240"/>
            <a:ext cx="2011680" cy="256032"/>
          </a:xfrm>
          <a:prstGeom prst="rect">
            <a:avLst/>
          </a:prstGeom>
          <a:noFill/>
          <a:ln/>
        </p:spPr>
        <p:txBody>
          <a:bodyPr wrap="square" lIns="0" tIns="0" rIns="0" bIns="0" rtlCol="0" anchor="t"/>
          <a:lstStyle/>
          <a:p>
            <a:pPr indent="0" marL="0">
              <a:buNone/>
            </a:pPr>
            <a:r>
              <a:rPr lang="en-US" sz="1150" dirty="0">
                <a:solidFill>
                  <a:schemeClr val="bg1"/>
                </a:solidFill>
              </a:rPr>
              <a:t>FastAPI + baked XGBoost model</a:t>
            </a:r>
            <a:endParaRPr lang="en-US" sz="1150" dirty="0"/>
          </a:p>
        </p:txBody>
      </p:sp>
      <p:sp>
        <p:nvSpPr>
          <p:cNvPr id="24" name="backend line4"/>
          <p:cNvSpPr txBox="1"/>
          <p:nvPr/>
        </p:nvSpPr>
        <p:spPr>
          <a:xfrm>
            <a:off x="5897880" y="3319272"/>
            <a:ext cx="2011680" cy="256032"/>
          </a:xfrm>
          <a:prstGeom prst="rect">
            <a:avLst/>
          </a:prstGeom>
          <a:noFill/>
          <a:ln/>
        </p:spPr>
        <p:txBody>
          <a:bodyPr wrap="square" lIns="0" tIns="0" rIns="0" bIns="0" rtlCol="0" anchor="t"/>
          <a:lstStyle/>
          <a:p>
            <a:pPr indent="0" marL="0">
              <a:buNone/>
            </a:pPr>
            <a:r>
              <a:rPr lang="en-US" sz="1150" dirty="0">
                <a:solidFill>
                  <a:schemeClr val="bg2"/>
                </a:solidFill>
              </a:rPr>
              <a:t>seeds DB on 1st boot · /docs</a:t>
            </a:r>
            <a:endParaRPr lang="en-US" sz="1150" dirty="0"/>
          </a:p>
        </p:txBody>
      </p:sp>
      <p:sp>
        <p:nvSpPr>
          <p:cNvPr id="25" name="db card"/>
          <p:cNvSpPr/>
          <p:nvPr/>
        </p:nvSpPr>
        <p:spPr>
          <a:xfrm>
            <a:off x="8778240" y="2148840"/>
            <a:ext cx="2377440" cy="1508760"/>
          </a:xfrm>
          <a:prstGeom prst="roundRect">
            <a:avLst>
              <a:gd name="adj" fmla="val 3636"/>
            </a:avLst>
          </a:prstGeom>
          <a:solidFill>
            <a:schemeClr val="tx2"/>
          </a:solidFill>
          <a:ln w="12700">
            <a:solidFill>
              <a:schemeClr val="accent3"/>
            </a:solidFill>
            <a:prstDash val="solid"/>
          </a:ln>
        </p:spPr>
      </p:sp>
      <p:pic>
        <p:nvPicPr>
          <p:cNvPr id="26" name="db icon" descr="preencoded.png">    </p:cNvPr>
          <p:cNvPicPr>
            <a:picLocks noChangeAspect="1"/>
          </p:cNvPicPr>
          <p:nvPr/>
        </p:nvPicPr>
        <p:blipFill>
          <a:blip r:embed="rId4"/>
          <a:stretch>
            <a:fillRect/>
          </a:stretch>
        </p:blipFill>
        <p:spPr>
          <a:xfrm>
            <a:off x="8961120" y="2331720"/>
            <a:ext cx="329184" cy="329184"/>
          </a:xfrm>
          <a:prstGeom prst="rect">
            <a:avLst/>
          </a:prstGeom>
        </p:spPr>
      </p:pic>
      <p:sp>
        <p:nvSpPr>
          <p:cNvPr id="27" name="db name"/>
          <p:cNvSpPr txBox="1"/>
          <p:nvPr/>
        </p:nvSpPr>
        <p:spPr>
          <a:xfrm>
            <a:off x="9381744" y="2304288"/>
            <a:ext cx="1097280" cy="384048"/>
          </a:xfrm>
          <a:prstGeom prst="rect">
            <a:avLst/>
          </a:prstGeom>
          <a:noFill/>
          <a:ln/>
        </p:spPr>
        <p:txBody>
          <a:bodyPr wrap="square" lIns="0" tIns="0" rIns="0" bIns="0" rtlCol="0" anchor="ctr"/>
          <a:lstStyle/>
          <a:p>
            <a:pPr indent="0" marL="0">
              <a:buNone/>
            </a:pPr>
            <a:r>
              <a:rPr lang="en-US" sz="1700" b="1" dirty="0">
                <a:solidFill>
                  <a:schemeClr val="bg1"/>
                </a:solidFill>
              </a:rPr>
              <a:t>db</a:t>
            </a:r>
            <a:endParaRPr lang="en-US" sz="1700" dirty="0"/>
          </a:p>
        </p:txBody>
      </p:sp>
      <p:sp>
        <p:nvSpPr>
          <p:cNvPr id="28" name="db image"/>
          <p:cNvSpPr txBox="1"/>
          <p:nvPr/>
        </p:nvSpPr>
        <p:spPr>
          <a:xfrm>
            <a:off x="8961120" y="2788920"/>
            <a:ext cx="2011680" cy="256032"/>
          </a:xfrm>
          <a:prstGeom prst="rect">
            <a:avLst/>
          </a:prstGeom>
          <a:noFill/>
          <a:ln/>
        </p:spPr>
        <p:txBody>
          <a:bodyPr wrap="square" lIns="0" tIns="0" rIns="0" bIns="0" rtlCol="0" anchor="t"/>
          <a:lstStyle/>
          <a:p>
            <a:pPr indent="0" marL="0">
              <a:buNone/>
            </a:pPr>
            <a:r>
              <a:rPr lang="en-US" sz="1250" b="1" dirty="0">
                <a:solidFill>
                  <a:schemeClr val="accent1"/>
                </a:solidFill>
              </a:rPr>
              <a:t>postgres:16-alpine</a:t>
            </a:r>
            <a:endParaRPr lang="en-US" sz="1250" dirty="0"/>
          </a:p>
        </p:txBody>
      </p:sp>
      <p:sp>
        <p:nvSpPr>
          <p:cNvPr id="29" name="db detail"/>
          <p:cNvSpPr txBox="1"/>
          <p:nvPr/>
        </p:nvSpPr>
        <p:spPr>
          <a:xfrm>
            <a:off x="8961120" y="3063240"/>
            <a:ext cx="2011680" cy="256032"/>
          </a:xfrm>
          <a:prstGeom prst="rect">
            <a:avLst/>
          </a:prstGeom>
          <a:noFill/>
          <a:ln/>
        </p:spPr>
        <p:txBody>
          <a:bodyPr wrap="square" lIns="0" tIns="0" rIns="0" bIns="0" rtlCol="0" anchor="t"/>
          <a:lstStyle/>
          <a:p>
            <a:pPr indent="0" marL="0">
              <a:buNone/>
            </a:pPr>
            <a:r>
              <a:rPr lang="en-US" sz="1150" dirty="0">
                <a:solidFill>
                  <a:schemeClr val="bg1"/>
                </a:solidFill>
              </a:rPr>
              <a:t>official image, not ours</a:t>
            </a:r>
            <a:endParaRPr lang="en-US" sz="1150" dirty="0"/>
          </a:p>
        </p:txBody>
      </p:sp>
      <p:sp>
        <p:nvSpPr>
          <p:cNvPr id="30" name="db line4"/>
          <p:cNvSpPr txBox="1"/>
          <p:nvPr/>
        </p:nvSpPr>
        <p:spPr>
          <a:xfrm>
            <a:off x="8961120" y="3319272"/>
            <a:ext cx="2011680" cy="256032"/>
          </a:xfrm>
          <a:prstGeom prst="rect">
            <a:avLst/>
          </a:prstGeom>
          <a:noFill/>
          <a:ln/>
        </p:spPr>
        <p:txBody>
          <a:bodyPr wrap="square" lIns="0" tIns="0" rIns="0" bIns="0" rtlCol="0" anchor="t"/>
          <a:lstStyle/>
          <a:p>
            <a:pPr indent="0" marL="0">
              <a:buNone/>
            </a:pPr>
            <a:r>
              <a:rPr lang="en-US" sz="1150" dirty="0">
                <a:solidFill>
                  <a:schemeClr val="bg2"/>
                </a:solidFill>
              </a:rPr>
              <a:t>no host port (internal only)</a:t>
            </a:r>
            <a:endParaRPr lang="en-US" sz="1150" dirty="0"/>
          </a:p>
        </p:txBody>
      </p:sp>
      <p:sp>
        <p:nvSpPr>
          <p:cNvPr id="31" name="browser-frontend arrow"/>
          <p:cNvSpPr/>
          <p:nvPr/>
        </p:nvSpPr>
        <p:spPr>
          <a:xfrm>
            <a:off x="2011680" y="2834640"/>
            <a:ext cx="640080" cy="0"/>
          </a:xfrm>
          <a:prstGeom prst="line">
            <a:avLst/>
          </a:prstGeom>
          <a:noFill/>
          <a:ln w="22225">
            <a:solidFill>
              <a:srgbClr val="EAF1F7"/>
            </a:solidFill>
            <a:prstDash val="solid"/>
            <a:tailEnd type="triangle"/>
          </a:ln>
        </p:spPr>
      </p:sp>
      <p:sp>
        <p:nvSpPr>
          <p:cNvPr id="32" name="browser-frontend label"/>
          <p:cNvSpPr txBox="1"/>
          <p:nvPr/>
        </p:nvSpPr>
        <p:spPr>
          <a:xfrm>
            <a:off x="1920240" y="2505456"/>
            <a:ext cx="822960" cy="256032"/>
          </a:xfrm>
          <a:prstGeom prst="rect">
            <a:avLst/>
          </a:prstGeom>
          <a:noFill/>
          <a:ln/>
        </p:spPr>
        <p:txBody>
          <a:bodyPr wrap="square" lIns="0" tIns="0" rIns="0" bIns="0" rtlCol="0" anchor="t"/>
          <a:lstStyle/>
          <a:p>
            <a:pPr algn="ctr" indent="0" marL="0">
              <a:buNone/>
            </a:pPr>
            <a:r>
              <a:rPr lang="en-US" sz="1050" b="1" dirty="0">
                <a:solidFill>
                  <a:srgbClr val="EAF1F7"/>
                </a:solidFill>
              </a:rPr>
              <a:t>HTTP :80</a:t>
            </a:r>
            <a:endParaRPr lang="en-US" sz="1050" dirty="0"/>
          </a:p>
        </p:txBody>
      </p:sp>
      <p:sp>
        <p:nvSpPr>
          <p:cNvPr id="33" name="frontend-backend arrow"/>
          <p:cNvSpPr/>
          <p:nvPr/>
        </p:nvSpPr>
        <p:spPr>
          <a:xfrm>
            <a:off x="5029200" y="2834640"/>
            <a:ext cx="685800" cy="0"/>
          </a:xfrm>
          <a:prstGeom prst="line">
            <a:avLst/>
          </a:prstGeom>
          <a:noFill/>
          <a:ln w="22225">
            <a:solidFill>
              <a:srgbClr val="4FD1C5"/>
            </a:solidFill>
            <a:prstDash val="solid"/>
            <a:tailEnd type="triangle"/>
          </a:ln>
        </p:spPr>
      </p:sp>
      <p:sp>
        <p:nvSpPr>
          <p:cNvPr id="34" name="frontend-backend label"/>
          <p:cNvSpPr txBox="1"/>
          <p:nvPr/>
        </p:nvSpPr>
        <p:spPr>
          <a:xfrm>
            <a:off x="4937760" y="2505456"/>
            <a:ext cx="868680" cy="256032"/>
          </a:xfrm>
          <a:prstGeom prst="rect">
            <a:avLst/>
          </a:prstGeom>
          <a:noFill/>
          <a:ln/>
        </p:spPr>
        <p:txBody>
          <a:bodyPr wrap="square" lIns="0" tIns="0" rIns="0" bIns="0" rtlCol="0" anchor="t"/>
          <a:lstStyle/>
          <a:p>
            <a:pPr algn="ctr" indent="0" marL="0">
              <a:buNone/>
            </a:pPr>
            <a:r>
              <a:rPr lang="en-US" sz="1050" b="1" dirty="0">
                <a:solidFill>
                  <a:srgbClr val="4FD1C5"/>
                </a:solidFill>
              </a:rPr>
              <a:t>/api/*</a:t>
            </a:r>
            <a:endParaRPr lang="en-US" sz="1050" dirty="0"/>
          </a:p>
        </p:txBody>
      </p:sp>
      <p:sp>
        <p:nvSpPr>
          <p:cNvPr id="35" name="frontend-backend network chip"/>
          <p:cNvSpPr/>
          <p:nvPr/>
        </p:nvSpPr>
        <p:spPr>
          <a:xfrm>
            <a:off x="5029200" y="2953512"/>
            <a:ext cx="685800" cy="256032"/>
          </a:xfrm>
          <a:prstGeom prst="roundRect">
            <a:avLst>
              <a:gd name="adj" fmla="val 21429"/>
            </a:avLst>
          </a:prstGeom>
          <a:solidFill>
            <a:schemeClr val="accent4"/>
          </a:solidFill>
          <a:ln w="9525">
            <a:solidFill>
              <a:schemeClr val="accent3"/>
            </a:solidFill>
            <a:prstDash val="solid"/>
          </a:ln>
        </p:spPr>
      </p:sp>
      <p:sp>
        <p:nvSpPr>
          <p:cNvPr id="36" name="frontend-backend network text"/>
          <p:cNvSpPr txBox="1"/>
          <p:nvPr/>
        </p:nvSpPr>
        <p:spPr>
          <a:xfrm>
            <a:off x="5029200" y="2953512"/>
            <a:ext cx="685800" cy="256032"/>
          </a:xfrm>
          <a:prstGeom prst="rect">
            <a:avLst/>
          </a:prstGeom>
          <a:noFill/>
          <a:ln/>
        </p:spPr>
        <p:txBody>
          <a:bodyPr wrap="square" lIns="0" tIns="0" rIns="0" bIns="0" rtlCol="0" anchor="ctr"/>
          <a:lstStyle/>
          <a:p>
            <a:pPr algn="ctr" indent="0" marL="0">
              <a:buNone/>
            </a:pPr>
            <a:r>
              <a:rPr lang="en-US" sz="1000" dirty="0">
                <a:solidFill>
                  <a:schemeClr val="bg1"/>
                </a:solidFill>
              </a:rPr>
              <a:t>web-net</a:t>
            </a:r>
            <a:endParaRPr lang="en-US" sz="1000" dirty="0"/>
          </a:p>
        </p:txBody>
      </p:sp>
      <p:sp>
        <p:nvSpPr>
          <p:cNvPr id="37" name="backend-db arrow"/>
          <p:cNvSpPr/>
          <p:nvPr/>
        </p:nvSpPr>
        <p:spPr>
          <a:xfrm>
            <a:off x="8092440" y="2834640"/>
            <a:ext cx="685800" cy="0"/>
          </a:xfrm>
          <a:prstGeom prst="line">
            <a:avLst/>
          </a:prstGeom>
          <a:noFill/>
          <a:ln w="22225">
            <a:solidFill>
              <a:srgbClr val="4FD1C5"/>
            </a:solidFill>
            <a:prstDash val="solid"/>
            <a:tailEnd type="triangle"/>
          </a:ln>
        </p:spPr>
      </p:sp>
      <p:sp>
        <p:nvSpPr>
          <p:cNvPr id="38" name="backend-db label"/>
          <p:cNvSpPr txBox="1"/>
          <p:nvPr/>
        </p:nvSpPr>
        <p:spPr>
          <a:xfrm>
            <a:off x="8001000" y="2505456"/>
            <a:ext cx="868680" cy="256032"/>
          </a:xfrm>
          <a:prstGeom prst="rect">
            <a:avLst/>
          </a:prstGeom>
          <a:noFill/>
          <a:ln/>
        </p:spPr>
        <p:txBody>
          <a:bodyPr wrap="square" lIns="0" tIns="0" rIns="0" bIns="0" rtlCol="0" anchor="t"/>
          <a:lstStyle/>
          <a:p>
            <a:pPr algn="ctr" indent="0" marL="0">
              <a:buNone/>
            </a:pPr>
            <a:r>
              <a:rPr lang="en-US" sz="1050" b="1" dirty="0">
                <a:solidFill>
                  <a:srgbClr val="4FD1C5"/>
                </a:solidFill>
              </a:rPr>
              <a:t>SQL 5432</a:t>
            </a:r>
            <a:endParaRPr lang="en-US" sz="1050" dirty="0"/>
          </a:p>
        </p:txBody>
      </p:sp>
      <p:sp>
        <p:nvSpPr>
          <p:cNvPr id="39" name="backend-db network chip"/>
          <p:cNvSpPr/>
          <p:nvPr/>
        </p:nvSpPr>
        <p:spPr>
          <a:xfrm>
            <a:off x="8092440" y="2953512"/>
            <a:ext cx="685800" cy="256032"/>
          </a:xfrm>
          <a:prstGeom prst="roundRect">
            <a:avLst>
              <a:gd name="adj" fmla="val 21429"/>
            </a:avLst>
          </a:prstGeom>
          <a:solidFill>
            <a:schemeClr val="accent4"/>
          </a:solidFill>
          <a:ln w="9525">
            <a:solidFill>
              <a:schemeClr val="accent3"/>
            </a:solidFill>
            <a:prstDash val="solid"/>
          </a:ln>
        </p:spPr>
      </p:sp>
      <p:sp>
        <p:nvSpPr>
          <p:cNvPr id="40" name="backend-db network text"/>
          <p:cNvSpPr txBox="1"/>
          <p:nvPr/>
        </p:nvSpPr>
        <p:spPr>
          <a:xfrm>
            <a:off x="8092440" y="2953512"/>
            <a:ext cx="685800" cy="256032"/>
          </a:xfrm>
          <a:prstGeom prst="rect">
            <a:avLst/>
          </a:prstGeom>
          <a:noFill/>
          <a:ln/>
        </p:spPr>
        <p:txBody>
          <a:bodyPr wrap="square" lIns="0" tIns="0" rIns="0" bIns="0" rtlCol="0" anchor="ctr"/>
          <a:lstStyle/>
          <a:p>
            <a:pPr algn="ctr" indent="0" marL="0">
              <a:buNone/>
            </a:pPr>
            <a:r>
              <a:rPr lang="en-US" sz="1000" dirty="0">
                <a:solidFill>
                  <a:schemeClr val="bg1"/>
                </a:solidFill>
              </a:rPr>
              <a:t>data-net</a:t>
            </a:r>
            <a:endParaRPr lang="en-US" sz="1000" dirty="0"/>
          </a:p>
        </p:txBody>
      </p:sp>
      <p:pic>
        <p:nvPicPr>
          <p:cNvPr id="41" name="Isolation icon" descr="preencoded.png">    </p:cNvPr>
          <p:cNvPicPr>
            <a:picLocks noChangeAspect="1"/>
          </p:cNvPicPr>
          <p:nvPr/>
        </p:nvPicPr>
        <p:blipFill>
          <a:blip r:embed="rId5"/>
          <a:stretch>
            <a:fillRect/>
          </a:stretch>
        </p:blipFill>
        <p:spPr>
          <a:xfrm>
            <a:off x="2697480" y="3931920"/>
            <a:ext cx="256032" cy="256032"/>
          </a:xfrm>
          <a:prstGeom prst="rect">
            <a:avLst/>
          </a:prstGeom>
        </p:spPr>
      </p:pic>
      <p:sp>
        <p:nvSpPr>
          <p:cNvPr id="42" name="Isolation note"/>
          <p:cNvSpPr txBox="1"/>
          <p:nvPr/>
        </p:nvSpPr>
        <p:spPr>
          <a:xfrm>
            <a:off x="3035808" y="3904488"/>
            <a:ext cx="2103120" cy="548640"/>
          </a:xfrm>
          <a:prstGeom prst="rect">
            <a:avLst/>
          </a:prstGeom>
          <a:noFill/>
          <a:ln/>
        </p:spPr>
        <p:txBody>
          <a:bodyPr wrap="square" lIns="0" tIns="0" rIns="0" bIns="0" rtlCol="0" anchor="t"/>
          <a:lstStyle/>
          <a:p>
            <a:pPr indent="0" marL="0">
              <a:buNone/>
            </a:pPr>
            <a:r>
              <a:rPr lang="en-US" sz="1100" i="1" dirty="0">
                <a:solidFill>
                  <a:schemeClr val="bg2"/>
                </a:solidFill>
              </a:rPr>
              <a:t>Separate networks: nginx has no route to Postgres</a:t>
            </a:r>
            <a:endParaRPr lang="en-US" sz="1100" dirty="0"/>
          </a:p>
        </p:txBody>
      </p:sp>
      <p:sp>
        <p:nvSpPr>
          <p:cNvPr id="43" name="uploads mount line"/>
          <p:cNvSpPr/>
          <p:nvPr/>
        </p:nvSpPr>
        <p:spPr>
          <a:xfrm>
            <a:off x="6903720" y="3657600"/>
            <a:ext cx="0" cy="347472"/>
          </a:xfrm>
          <a:prstGeom prst="line">
            <a:avLst/>
          </a:prstGeom>
          <a:noFill/>
          <a:ln w="15875">
            <a:solidFill>
              <a:srgbClr val="24374F"/>
            </a:solidFill>
            <a:prstDash val="dash"/>
          </a:ln>
        </p:spPr>
      </p:sp>
      <p:sp>
        <p:nvSpPr>
          <p:cNvPr id="44" name="uploads volume"/>
          <p:cNvSpPr/>
          <p:nvPr/>
        </p:nvSpPr>
        <p:spPr>
          <a:xfrm>
            <a:off x="5897880" y="4005072"/>
            <a:ext cx="2011680" cy="868680"/>
          </a:xfrm>
          <a:prstGeom prst="can">
            <a:avLst/>
          </a:prstGeom>
          <a:solidFill>
            <a:schemeClr val="accent4"/>
          </a:solidFill>
          <a:ln w="12700">
            <a:solidFill>
              <a:schemeClr val="accent3"/>
            </a:solidFill>
            <a:prstDash val="solid"/>
          </a:ln>
        </p:spPr>
      </p:sp>
      <p:sp>
        <p:nvSpPr>
          <p:cNvPr id="45" name="uploads volume label"/>
          <p:cNvSpPr txBox="1"/>
          <p:nvPr/>
        </p:nvSpPr>
        <p:spPr>
          <a:xfrm>
            <a:off x="5897880" y="4279392"/>
            <a:ext cx="2011680" cy="502920"/>
          </a:xfrm>
          <a:prstGeom prst="rect">
            <a:avLst/>
          </a:prstGeom>
          <a:noFill/>
          <a:ln/>
        </p:spPr>
        <p:txBody>
          <a:bodyPr wrap="square" lIns="0" tIns="0" rIns="0" bIns="0" rtlCol="0" anchor="t"/>
          <a:lstStyle/>
          <a:p>
            <a:pPr algn="ctr" indent="0" marL="0">
              <a:buNone/>
            </a:pPr>
            <a:r>
              <a:rPr lang="en-US" sz="1300" b="1" dirty="0">
                <a:solidFill>
                  <a:schemeClr val="bg1"/>
                </a:solidFill>
              </a:rPr>
              <a:t>uploads</a:t>
            </a:r>
            <a:endParaRPr lang="en-US" sz="1300" dirty="0"/>
          </a:p>
          <a:p>
            <a:pPr algn="ctr" indent="0" marL="0">
              <a:buNone/>
            </a:pPr>
            <a:r>
              <a:rPr lang="en-US" sz="1050" dirty="0">
                <a:solidFill>
                  <a:schemeClr val="bg2"/>
                </a:solidFill>
              </a:rPr>
              <a:t>→ /app/uploads</a:t>
            </a:r>
            <a:endParaRPr lang="en-US" sz="1300" dirty="0"/>
          </a:p>
        </p:txBody>
      </p:sp>
      <p:sp>
        <p:nvSpPr>
          <p:cNvPr id="46" name="pgdata mount line"/>
          <p:cNvSpPr/>
          <p:nvPr/>
        </p:nvSpPr>
        <p:spPr>
          <a:xfrm>
            <a:off x="9966960" y="3657600"/>
            <a:ext cx="0" cy="347472"/>
          </a:xfrm>
          <a:prstGeom prst="line">
            <a:avLst/>
          </a:prstGeom>
          <a:noFill/>
          <a:ln w="15875">
            <a:solidFill>
              <a:srgbClr val="24374F"/>
            </a:solidFill>
            <a:prstDash val="dash"/>
          </a:ln>
        </p:spPr>
      </p:sp>
      <p:sp>
        <p:nvSpPr>
          <p:cNvPr id="47" name="pgdata volume"/>
          <p:cNvSpPr/>
          <p:nvPr/>
        </p:nvSpPr>
        <p:spPr>
          <a:xfrm>
            <a:off x="8961120" y="4005072"/>
            <a:ext cx="2011680" cy="868680"/>
          </a:xfrm>
          <a:prstGeom prst="can">
            <a:avLst/>
          </a:prstGeom>
          <a:solidFill>
            <a:schemeClr val="accent4"/>
          </a:solidFill>
          <a:ln w="12700">
            <a:solidFill>
              <a:schemeClr val="accent3"/>
            </a:solidFill>
            <a:prstDash val="solid"/>
          </a:ln>
        </p:spPr>
      </p:sp>
      <p:sp>
        <p:nvSpPr>
          <p:cNvPr id="48" name="pgdata volume label"/>
          <p:cNvSpPr txBox="1"/>
          <p:nvPr/>
        </p:nvSpPr>
        <p:spPr>
          <a:xfrm>
            <a:off x="8961120" y="4279392"/>
            <a:ext cx="2011680" cy="502920"/>
          </a:xfrm>
          <a:prstGeom prst="rect">
            <a:avLst/>
          </a:prstGeom>
          <a:noFill/>
          <a:ln/>
        </p:spPr>
        <p:txBody>
          <a:bodyPr wrap="square" lIns="0" tIns="0" rIns="0" bIns="0" rtlCol="0" anchor="t"/>
          <a:lstStyle/>
          <a:p>
            <a:pPr algn="ctr" indent="0" marL="0">
              <a:buNone/>
            </a:pPr>
            <a:r>
              <a:rPr lang="en-US" sz="1300" b="1" dirty="0">
                <a:solidFill>
                  <a:schemeClr val="bg1"/>
                </a:solidFill>
              </a:rPr>
              <a:t>pgdata</a:t>
            </a:r>
            <a:endParaRPr lang="en-US" sz="1300" dirty="0"/>
          </a:p>
          <a:p>
            <a:pPr algn="ctr" indent="0" marL="0">
              <a:buNone/>
            </a:pPr>
            <a:r>
              <a:rPr lang="en-US" sz="1050" dirty="0">
                <a:solidFill>
                  <a:schemeClr val="bg2"/>
                </a:solidFill>
              </a:rPr>
              <a:t>→ /var/lib/postgresql/data</a:t>
            </a:r>
            <a:endParaRPr lang="en-US" sz="1300" dirty="0"/>
          </a:p>
        </p:txBody>
      </p:sp>
      <p:sp>
        <p:nvSpPr>
          <p:cNvPr id="49" name="Pipeline label"/>
          <p:cNvSpPr txBox="1"/>
          <p:nvPr/>
        </p:nvSpPr>
        <p:spPr>
          <a:xfrm>
            <a:off x="548640" y="5230368"/>
            <a:ext cx="11091672" cy="256032"/>
          </a:xfrm>
          <a:prstGeom prst="rect">
            <a:avLst/>
          </a:prstGeom>
          <a:noFill/>
          <a:ln/>
        </p:spPr>
        <p:txBody>
          <a:bodyPr wrap="square" lIns="0" tIns="0" rIns="0" bIns="0" rtlCol="0" anchor="t"/>
          <a:lstStyle/>
          <a:p>
            <a:pPr indent="0" marL="0">
              <a:buNone/>
            </a:pPr>
            <a:r>
              <a:rPr lang="en-US" sz="1100" b="1" spc="150" kern="0" dirty="0">
                <a:solidFill>
                  <a:schemeClr val="bg2"/>
                </a:solidFill>
              </a:rPr>
              <a:t>BUILD ONCE  →  SHIP  →  RUN ANYWHERE   ·   the same image digest on both machines</a:t>
            </a:r>
            <a:endParaRPr lang="en-US" sz="1100" dirty="0"/>
          </a:p>
        </p:txBody>
      </p:sp>
      <p:sp>
        <p:nvSpPr>
          <p:cNvPr id="50" name="Pipeline chip 1"/>
          <p:cNvSpPr/>
          <p:nvPr/>
        </p:nvSpPr>
        <p:spPr>
          <a:xfrm>
            <a:off x="548640" y="5541264"/>
            <a:ext cx="3383280" cy="877824"/>
          </a:xfrm>
          <a:prstGeom prst="roundRect">
            <a:avLst>
              <a:gd name="adj" fmla="val 6250"/>
            </a:avLst>
          </a:prstGeom>
          <a:solidFill>
            <a:schemeClr val="tx2"/>
          </a:solidFill>
          <a:ln w="12700">
            <a:solidFill>
              <a:schemeClr val="accent3"/>
            </a:solidFill>
            <a:prstDash val="solid"/>
          </a:ln>
        </p:spPr>
      </p:sp>
      <p:pic>
        <p:nvPicPr>
          <p:cNvPr id="51" name="Pipeline icon 1" descr="preencoded.png">    </p:cNvPr>
          <p:cNvPicPr>
            <a:picLocks noChangeAspect="1"/>
          </p:cNvPicPr>
          <p:nvPr/>
        </p:nvPicPr>
        <p:blipFill>
          <a:blip r:embed="rId6"/>
          <a:stretch>
            <a:fillRect/>
          </a:stretch>
        </p:blipFill>
        <p:spPr>
          <a:xfrm>
            <a:off x="749808" y="5779008"/>
            <a:ext cx="402336" cy="402336"/>
          </a:xfrm>
          <a:prstGeom prst="rect">
            <a:avLst/>
          </a:prstGeom>
        </p:spPr>
      </p:pic>
      <p:sp>
        <p:nvSpPr>
          <p:cNvPr id="52" name="Pipeline text 1"/>
          <p:cNvSpPr txBox="1"/>
          <p:nvPr/>
        </p:nvSpPr>
        <p:spPr>
          <a:xfrm>
            <a:off x="1325880" y="5614416"/>
            <a:ext cx="2468880" cy="749808"/>
          </a:xfrm>
          <a:prstGeom prst="rect">
            <a:avLst/>
          </a:prstGeom>
          <a:noFill/>
          <a:ln/>
        </p:spPr>
        <p:txBody>
          <a:bodyPr wrap="square" lIns="0" tIns="0" rIns="0" bIns="0" rtlCol="0" anchor="ctr"/>
          <a:lstStyle/>
          <a:p>
            <a:pPr indent="0" marL="0">
              <a:buNone/>
            </a:pPr>
            <a:r>
              <a:rPr lang="en-US" sz="1300" b="1" dirty="0">
                <a:solidFill>
                  <a:schemeClr val="bg1"/>
                </a:solidFill>
              </a:rPr>
              <a:t>Laptop (M-series Mac)</a:t>
            </a:r>
            <a:endParaRPr lang="en-US" sz="1300" dirty="0"/>
          </a:p>
          <a:p>
            <a:pPr indent="0" marL="0">
              <a:buNone/>
            </a:pPr>
            <a:r>
              <a:rPr lang="en-US" sz="1100" dirty="0">
                <a:solidFill>
                  <a:schemeClr val="accent1"/>
                </a:solidFill>
              </a:rPr>
              <a:t>docker compose build</a:t>
            </a:r>
            <a:endParaRPr lang="en-US" sz="1300" dirty="0"/>
          </a:p>
          <a:p>
            <a:pPr indent="0" marL="0">
              <a:buNone/>
            </a:pPr>
            <a:r>
              <a:rPr lang="en-US" sz="1100" dirty="0">
                <a:solidFill>
                  <a:schemeClr val="bg2"/>
                </a:solidFill>
              </a:rPr>
              <a:t>platform: linux/amd64 = VM's CPU</a:t>
            </a:r>
            <a:endParaRPr lang="en-US" sz="1300" dirty="0"/>
          </a:p>
        </p:txBody>
      </p:sp>
      <p:sp>
        <p:nvSpPr>
          <p:cNvPr id="53" name="Pipeline arrow 1"/>
          <p:cNvSpPr/>
          <p:nvPr/>
        </p:nvSpPr>
        <p:spPr>
          <a:xfrm>
            <a:off x="3968496" y="5980176"/>
            <a:ext cx="338328" cy="0"/>
          </a:xfrm>
          <a:prstGeom prst="line">
            <a:avLst/>
          </a:prstGeom>
          <a:noFill/>
          <a:ln w="22225">
            <a:solidFill>
              <a:srgbClr val="4FD1C5"/>
            </a:solidFill>
            <a:prstDash val="solid"/>
            <a:tailEnd type="triangle"/>
          </a:ln>
        </p:spPr>
      </p:sp>
      <p:sp>
        <p:nvSpPr>
          <p:cNvPr id="54" name="Pipeline chip 2"/>
          <p:cNvSpPr/>
          <p:nvPr/>
        </p:nvSpPr>
        <p:spPr>
          <a:xfrm>
            <a:off x="4343400" y="5541264"/>
            <a:ext cx="3566160" cy="877824"/>
          </a:xfrm>
          <a:prstGeom prst="roundRect">
            <a:avLst>
              <a:gd name="adj" fmla="val 6250"/>
            </a:avLst>
          </a:prstGeom>
          <a:solidFill>
            <a:schemeClr val="tx2"/>
          </a:solidFill>
          <a:ln w="12700">
            <a:solidFill>
              <a:schemeClr val="accent3"/>
            </a:solidFill>
            <a:prstDash val="solid"/>
          </a:ln>
        </p:spPr>
      </p:sp>
      <p:pic>
        <p:nvPicPr>
          <p:cNvPr id="55" name="Pipeline icon 2" descr="preencoded.png">    </p:cNvPr>
          <p:cNvPicPr>
            <a:picLocks noChangeAspect="1"/>
          </p:cNvPicPr>
          <p:nvPr/>
        </p:nvPicPr>
        <p:blipFill>
          <a:blip r:embed="rId7"/>
          <a:stretch>
            <a:fillRect/>
          </a:stretch>
        </p:blipFill>
        <p:spPr>
          <a:xfrm>
            <a:off x="4544568" y="5779008"/>
            <a:ext cx="402336" cy="402336"/>
          </a:xfrm>
          <a:prstGeom prst="rect">
            <a:avLst/>
          </a:prstGeom>
        </p:spPr>
      </p:pic>
      <p:sp>
        <p:nvSpPr>
          <p:cNvPr id="56" name="Pipeline text 2"/>
          <p:cNvSpPr txBox="1"/>
          <p:nvPr/>
        </p:nvSpPr>
        <p:spPr>
          <a:xfrm>
            <a:off x="5120640" y="5614416"/>
            <a:ext cx="2651760" cy="749808"/>
          </a:xfrm>
          <a:prstGeom prst="rect">
            <a:avLst/>
          </a:prstGeom>
          <a:noFill/>
          <a:ln/>
        </p:spPr>
        <p:txBody>
          <a:bodyPr wrap="square" lIns="0" tIns="0" rIns="0" bIns="0" rtlCol="0" anchor="ctr"/>
          <a:lstStyle/>
          <a:p>
            <a:pPr indent="0" marL="0">
              <a:buNone/>
            </a:pPr>
            <a:r>
              <a:rPr lang="en-US" sz="1300" b="1" dirty="0">
                <a:solidFill>
                  <a:schemeClr val="bg1"/>
                </a:solidFill>
              </a:rPr>
              <a:t>Artifact Registry · us-central1</a:t>
            </a:r>
            <a:endParaRPr lang="en-US" sz="1300" dirty="0"/>
          </a:p>
          <a:p>
            <a:pPr indent="0" marL="0">
              <a:buNone/>
            </a:pPr>
            <a:r>
              <a:rPr lang="en-US" sz="1100" dirty="0">
                <a:solidFill>
                  <a:schemeClr val="accent1"/>
                </a:solidFill>
              </a:rPr>
              <a:t>gridpulse-backend:v1</a:t>
            </a:r>
            <a:endParaRPr lang="en-US" sz="1300" dirty="0"/>
          </a:p>
          <a:p>
            <a:pPr indent="0" marL="0">
              <a:buNone/>
            </a:pPr>
            <a:r>
              <a:rPr lang="en-US" sz="1100" dirty="0">
                <a:solidFill>
                  <a:schemeClr val="accent1"/>
                </a:solidFill>
              </a:rPr>
              <a:t>gridpulse-frontend:v1</a:t>
            </a:r>
            <a:endParaRPr lang="en-US" sz="1300" dirty="0"/>
          </a:p>
        </p:txBody>
      </p:sp>
      <p:sp>
        <p:nvSpPr>
          <p:cNvPr id="57" name="Pipeline arrow 2"/>
          <p:cNvSpPr/>
          <p:nvPr/>
        </p:nvSpPr>
        <p:spPr>
          <a:xfrm>
            <a:off x="7946136" y="5980176"/>
            <a:ext cx="338328" cy="0"/>
          </a:xfrm>
          <a:prstGeom prst="line">
            <a:avLst/>
          </a:prstGeom>
          <a:noFill/>
          <a:ln w="22225">
            <a:solidFill>
              <a:srgbClr val="4FD1C5"/>
            </a:solidFill>
            <a:prstDash val="solid"/>
            <a:tailEnd type="triangle"/>
          </a:ln>
        </p:spPr>
      </p:sp>
      <p:sp>
        <p:nvSpPr>
          <p:cNvPr id="58" name="Pipeline chip 3"/>
          <p:cNvSpPr/>
          <p:nvPr/>
        </p:nvSpPr>
        <p:spPr>
          <a:xfrm>
            <a:off x="8321040" y="5541264"/>
            <a:ext cx="3319272" cy="877824"/>
          </a:xfrm>
          <a:prstGeom prst="roundRect">
            <a:avLst>
              <a:gd name="adj" fmla="val 6250"/>
            </a:avLst>
          </a:prstGeom>
          <a:solidFill>
            <a:schemeClr val="tx2"/>
          </a:solidFill>
          <a:ln w="12700">
            <a:solidFill>
              <a:schemeClr val="accent3"/>
            </a:solidFill>
            <a:prstDash val="solid"/>
          </a:ln>
        </p:spPr>
      </p:sp>
      <p:pic>
        <p:nvPicPr>
          <p:cNvPr id="59" name="Pipeline icon 3" descr="preencoded.png">    </p:cNvPr>
          <p:cNvPicPr>
            <a:picLocks noChangeAspect="1"/>
          </p:cNvPicPr>
          <p:nvPr/>
        </p:nvPicPr>
        <p:blipFill>
          <a:blip r:embed="rId8"/>
          <a:stretch>
            <a:fillRect/>
          </a:stretch>
        </p:blipFill>
        <p:spPr>
          <a:xfrm>
            <a:off x="8522208" y="5779008"/>
            <a:ext cx="402336" cy="402336"/>
          </a:xfrm>
          <a:prstGeom prst="rect">
            <a:avLst/>
          </a:prstGeom>
        </p:spPr>
      </p:pic>
      <p:sp>
        <p:nvSpPr>
          <p:cNvPr id="60" name="Pipeline text 3"/>
          <p:cNvSpPr txBox="1"/>
          <p:nvPr/>
        </p:nvSpPr>
        <p:spPr>
          <a:xfrm>
            <a:off x="9098280" y="5614416"/>
            <a:ext cx="2404872" cy="749808"/>
          </a:xfrm>
          <a:prstGeom prst="rect">
            <a:avLst/>
          </a:prstGeom>
          <a:noFill/>
          <a:ln/>
        </p:spPr>
        <p:txBody>
          <a:bodyPr wrap="square" lIns="0" tIns="0" rIns="0" bIns="0" rtlCol="0" anchor="ctr"/>
          <a:lstStyle/>
          <a:p>
            <a:pPr indent="0" marL="0">
              <a:buNone/>
            </a:pPr>
            <a:r>
              <a:rPr lang="en-US" sz="1300" b="1" dirty="0">
                <a:solidFill>
                  <a:schemeClr val="bg1"/>
                </a:solidFill>
              </a:rPr>
              <a:t>gridpulse-vm</a:t>
            </a:r>
            <a:endParaRPr lang="en-US" sz="1300" dirty="0"/>
          </a:p>
          <a:p>
            <a:pPr indent="0" marL="0">
              <a:buNone/>
            </a:pPr>
            <a:r>
              <a:rPr lang="en-US" sz="1100" dirty="0">
                <a:solidFill>
                  <a:schemeClr val="accent1"/>
                </a:solidFill>
              </a:rPr>
              <a:t>compose pull · up --no-build</a:t>
            </a:r>
            <a:endParaRPr lang="en-US" sz="1300" dirty="0"/>
          </a:p>
          <a:p>
            <a:pPr indent="0" marL="0">
              <a:buNone/>
            </a:pPr>
            <a:r>
              <a:rPr lang="en-US" sz="1100" dirty="0">
                <a:solidFill>
                  <a:schemeClr val="bg2"/>
                </a:solidFill>
              </a:rPr>
              <a:t>http://23.251.144.238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400" b="1" dirty="0">
                <a:solidFill>
                  <a:schemeClr val="bg1"/>
                </a:solidFill>
              </a:rPr>
              <a:t>Before and after</a:t>
            </a:r>
            <a:endParaRPr lang="en-US" sz="3400" dirty="0"/>
          </a:p>
        </p:txBody>
      </p:sp>
      <p:sp>
        <p:nvSpPr>
          <p:cNvPr id="3" name="Text 0"/>
          <p:cNvSpPr/>
          <p:nvPr>
            <p:ph idx="101" type="body" hasCustomPrompt="1"/>
          </p:nvPr>
        </p:nvSpPr>
        <p:spPr>
          <a:xfrm>
            <a:off x="548640" y="987552"/>
            <a:ext cx="11091672" cy="365760"/>
          </a:xfrm>
          <a:prstGeom prst="rect">
            <a:avLst/>
          </a:prstGeom>
          <a:noFill/>
          <a:ln/>
        </p:spPr>
        <p:txBody>
          <a:bodyPr wrap="square" lIns="0" tIns="0" rIns="0" bIns="0" rtlCol="0" anchor="t"/>
          <a:lstStyle/>
          <a:p>
            <a:pPr algn="l" indent="0" marL="0">
              <a:buNone/>
            </a:pPr>
            <a:r>
              <a:rPr lang="en-US" sz="1400" dirty="0">
                <a:solidFill>
                  <a:schemeClr val="bg2"/>
                </a:solidFill>
              </a:rPr>
              <a:t>Milestone 2 hand-built the VM. Milestone 3 ships one versioned image to it.</a:t>
            </a:r>
            <a:endParaRPr lang="en-US" sz="1400" dirty="0"/>
          </a:p>
        </p:txBody>
      </p:sp>
      <p:sp>
        <p:nvSpPr>
          <p:cNvPr id="4" name="Before card"/>
          <p:cNvSpPr/>
          <p:nvPr/>
        </p:nvSpPr>
        <p:spPr>
          <a:xfrm>
            <a:off x="548640" y="1572768"/>
            <a:ext cx="5440680" cy="3401568"/>
          </a:xfrm>
          <a:prstGeom prst="roundRect">
            <a:avLst>
              <a:gd name="adj" fmla="val 1613"/>
            </a:avLst>
          </a:prstGeom>
          <a:solidFill>
            <a:schemeClr val="tx2"/>
          </a:solidFill>
          <a:ln w="12700">
            <a:solidFill>
              <a:schemeClr val="accent2"/>
            </a:solidFill>
            <a:prstDash val="solid"/>
          </a:ln>
        </p:spPr>
      </p:sp>
      <p:pic>
        <p:nvPicPr>
          <p:cNvPr id="5" name="Before icon" descr="preencoded.png">    </p:cNvPr>
          <p:cNvPicPr>
            <a:picLocks noChangeAspect="1"/>
          </p:cNvPicPr>
          <p:nvPr/>
        </p:nvPicPr>
        <p:blipFill>
          <a:blip r:embed="rId1"/>
          <a:stretch>
            <a:fillRect/>
          </a:stretch>
        </p:blipFill>
        <p:spPr>
          <a:xfrm>
            <a:off x="777240" y="1755648"/>
            <a:ext cx="329184" cy="329184"/>
          </a:xfrm>
          <a:prstGeom prst="rect">
            <a:avLst/>
          </a:prstGeom>
        </p:spPr>
      </p:pic>
      <p:sp>
        <p:nvSpPr>
          <p:cNvPr id="6" name="Before header"/>
          <p:cNvSpPr txBox="1"/>
          <p:nvPr/>
        </p:nvSpPr>
        <p:spPr>
          <a:xfrm>
            <a:off x="1207008" y="1737360"/>
            <a:ext cx="4572000" cy="365760"/>
          </a:xfrm>
          <a:prstGeom prst="rect">
            <a:avLst/>
          </a:prstGeom>
          <a:noFill/>
          <a:ln/>
        </p:spPr>
        <p:txBody>
          <a:bodyPr wrap="square" lIns="0" tIns="0" rIns="0" bIns="0" rtlCol="0" anchor="ctr"/>
          <a:lstStyle/>
          <a:p>
            <a:pPr indent="0" marL="0">
              <a:buNone/>
            </a:pPr>
            <a:r>
              <a:rPr lang="en-US" sz="1500" b="1" dirty="0">
                <a:solidFill>
                  <a:schemeClr val="accent2"/>
                </a:solidFill>
              </a:rPr>
              <a:t>BEFORE — 6 manual stages on the VM</a:t>
            </a:r>
            <a:endParaRPr lang="en-US" sz="1500" dirty="0"/>
          </a:p>
        </p:txBody>
      </p:sp>
      <p:sp>
        <p:nvSpPr>
          <p:cNvPr id="7" name="Before step 1 circle"/>
          <p:cNvSpPr/>
          <p:nvPr/>
        </p:nvSpPr>
        <p:spPr>
          <a:xfrm>
            <a:off x="804672" y="2258568"/>
            <a:ext cx="274320" cy="274320"/>
          </a:xfrm>
          <a:prstGeom prst="ellipse">
            <a:avLst/>
          </a:prstGeom>
          <a:solidFill>
            <a:schemeClr val="tx2"/>
          </a:solidFill>
          <a:ln w="12700">
            <a:solidFill>
              <a:schemeClr val="accent2"/>
            </a:solidFill>
            <a:prstDash val="solid"/>
          </a:ln>
        </p:spPr>
      </p:sp>
      <p:sp>
        <p:nvSpPr>
          <p:cNvPr id="8" name="Before step 1 number"/>
          <p:cNvSpPr txBox="1"/>
          <p:nvPr/>
        </p:nvSpPr>
        <p:spPr>
          <a:xfrm>
            <a:off x="804672" y="225856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1</a:t>
            </a:r>
            <a:endParaRPr lang="en-US" sz="1100" dirty="0"/>
          </a:p>
        </p:txBody>
      </p:sp>
      <p:sp>
        <p:nvSpPr>
          <p:cNvPr id="9" name="Before step 1 text"/>
          <p:cNvSpPr txBox="1"/>
          <p:nvPr/>
        </p:nvSpPr>
        <p:spPr>
          <a:xfrm>
            <a:off x="1243584" y="2240280"/>
            <a:ext cx="4617720" cy="310896"/>
          </a:xfrm>
          <a:prstGeom prst="rect">
            <a:avLst/>
          </a:prstGeom>
          <a:noFill/>
          <a:ln/>
        </p:spPr>
        <p:txBody>
          <a:bodyPr wrap="square" lIns="0" tIns="0" rIns="0" bIns="0" rtlCol="0" anchor="ctr"/>
          <a:lstStyle/>
          <a:p>
            <a:pPr indent="0" marL="0">
              <a:buNone/>
            </a:pPr>
            <a:r>
              <a:rPr lang="en-US" sz="1350" dirty="0">
                <a:solidFill>
                  <a:schemeClr val="bg1"/>
                </a:solidFill>
              </a:rPr>
              <a:t>Install PostgreSQL, create the role and database</a:t>
            </a:r>
            <a:endParaRPr lang="en-US" sz="1350" dirty="0"/>
          </a:p>
        </p:txBody>
      </p:sp>
      <p:sp>
        <p:nvSpPr>
          <p:cNvPr id="10" name="Before step 2 circle"/>
          <p:cNvSpPr/>
          <p:nvPr/>
        </p:nvSpPr>
        <p:spPr>
          <a:xfrm>
            <a:off x="804672" y="2642616"/>
            <a:ext cx="274320" cy="274320"/>
          </a:xfrm>
          <a:prstGeom prst="ellipse">
            <a:avLst/>
          </a:prstGeom>
          <a:solidFill>
            <a:schemeClr val="tx2"/>
          </a:solidFill>
          <a:ln w="12700">
            <a:solidFill>
              <a:schemeClr val="accent2"/>
            </a:solidFill>
            <a:prstDash val="solid"/>
          </a:ln>
        </p:spPr>
      </p:sp>
      <p:sp>
        <p:nvSpPr>
          <p:cNvPr id="11" name="Before step 2 number"/>
          <p:cNvSpPr txBox="1"/>
          <p:nvPr/>
        </p:nvSpPr>
        <p:spPr>
          <a:xfrm>
            <a:off x="804672" y="2642616"/>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2</a:t>
            </a:r>
            <a:endParaRPr lang="en-US" sz="1100" dirty="0"/>
          </a:p>
        </p:txBody>
      </p:sp>
      <p:sp>
        <p:nvSpPr>
          <p:cNvPr id="12" name="Before step 2 text"/>
          <p:cNvSpPr txBox="1"/>
          <p:nvPr/>
        </p:nvSpPr>
        <p:spPr>
          <a:xfrm>
            <a:off x="1243584" y="2624328"/>
            <a:ext cx="4617720" cy="310896"/>
          </a:xfrm>
          <a:prstGeom prst="rect">
            <a:avLst/>
          </a:prstGeom>
          <a:noFill/>
          <a:ln/>
        </p:spPr>
        <p:txBody>
          <a:bodyPr wrap="square" lIns="0" tIns="0" rIns="0" bIns="0" rtlCol="0" anchor="ctr"/>
          <a:lstStyle/>
          <a:p>
            <a:pPr indent="0" marL="0">
              <a:buNone/>
            </a:pPr>
            <a:r>
              <a:rPr lang="en-US" sz="1350" dirty="0">
                <a:solidFill>
                  <a:schemeClr val="bg1"/>
                </a:solidFill>
              </a:rPr>
              <a:t>Install Python 3.11 + venv, pip install the ML stack</a:t>
            </a:r>
            <a:endParaRPr lang="en-US" sz="1350" dirty="0"/>
          </a:p>
        </p:txBody>
      </p:sp>
      <p:sp>
        <p:nvSpPr>
          <p:cNvPr id="13" name="Before step 3 circle"/>
          <p:cNvSpPr/>
          <p:nvPr/>
        </p:nvSpPr>
        <p:spPr>
          <a:xfrm>
            <a:off x="804672" y="3026664"/>
            <a:ext cx="274320" cy="274320"/>
          </a:xfrm>
          <a:prstGeom prst="ellipse">
            <a:avLst/>
          </a:prstGeom>
          <a:solidFill>
            <a:schemeClr val="tx2"/>
          </a:solidFill>
          <a:ln w="12700">
            <a:solidFill>
              <a:schemeClr val="accent2"/>
            </a:solidFill>
            <a:prstDash val="solid"/>
          </a:ln>
        </p:spPr>
      </p:sp>
      <p:sp>
        <p:nvSpPr>
          <p:cNvPr id="14" name="Before step 3 number"/>
          <p:cNvSpPr txBox="1"/>
          <p:nvPr/>
        </p:nvSpPr>
        <p:spPr>
          <a:xfrm>
            <a:off x="804672" y="3026664"/>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3</a:t>
            </a:r>
            <a:endParaRPr lang="en-US" sz="1100" dirty="0"/>
          </a:p>
        </p:txBody>
      </p:sp>
      <p:sp>
        <p:nvSpPr>
          <p:cNvPr id="15" name="Before step 3 text"/>
          <p:cNvSpPr txBox="1"/>
          <p:nvPr/>
        </p:nvSpPr>
        <p:spPr>
          <a:xfrm>
            <a:off x="1243584" y="3008376"/>
            <a:ext cx="4617720" cy="310896"/>
          </a:xfrm>
          <a:prstGeom prst="rect">
            <a:avLst/>
          </a:prstGeom>
          <a:noFill/>
          <a:ln/>
        </p:spPr>
        <p:txBody>
          <a:bodyPr wrap="square" lIns="0" tIns="0" rIns="0" bIns="0" rtlCol="0" anchor="ctr"/>
          <a:lstStyle/>
          <a:p>
            <a:pPr indent="0" marL="0">
              <a:buNone/>
            </a:pPr>
            <a:r>
              <a:rPr lang="en-US" sz="1350" dirty="0">
                <a:solidFill>
                  <a:schemeClr val="bg1"/>
                </a:solidFill>
              </a:rPr>
              <a:t>Install Node, rebuild React with the VM's IP baked in</a:t>
            </a:r>
            <a:endParaRPr lang="en-US" sz="1350" dirty="0"/>
          </a:p>
        </p:txBody>
      </p:sp>
      <p:sp>
        <p:nvSpPr>
          <p:cNvPr id="16" name="Before step 4 circle"/>
          <p:cNvSpPr/>
          <p:nvPr/>
        </p:nvSpPr>
        <p:spPr>
          <a:xfrm>
            <a:off x="804672" y="3410712"/>
            <a:ext cx="274320" cy="274320"/>
          </a:xfrm>
          <a:prstGeom prst="ellipse">
            <a:avLst/>
          </a:prstGeom>
          <a:solidFill>
            <a:schemeClr val="tx2"/>
          </a:solidFill>
          <a:ln w="12700">
            <a:solidFill>
              <a:schemeClr val="accent2"/>
            </a:solidFill>
            <a:prstDash val="solid"/>
          </a:ln>
        </p:spPr>
      </p:sp>
      <p:sp>
        <p:nvSpPr>
          <p:cNvPr id="17" name="Before step 4 number"/>
          <p:cNvSpPr txBox="1"/>
          <p:nvPr/>
        </p:nvSpPr>
        <p:spPr>
          <a:xfrm>
            <a:off x="804672" y="3410712"/>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4</a:t>
            </a:r>
            <a:endParaRPr lang="en-US" sz="1100" dirty="0"/>
          </a:p>
        </p:txBody>
      </p:sp>
      <p:sp>
        <p:nvSpPr>
          <p:cNvPr id="18" name="Before step 4 text"/>
          <p:cNvSpPr txBox="1"/>
          <p:nvPr/>
        </p:nvSpPr>
        <p:spPr>
          <a:xfrm>
            <a:off x="1243584" y="3392424"/>
            <a:ext cx="4617720" cy="310896"/>
          </a:xfrm>
          <a:prstGeom prst="rect">
            <a:avLst/>
          </a:prstGeom>
          <a:noFill/>
          <a:ln/>
        </p:spPr>
        <p:txBody>
          <a:bodyPr wrap="square" lIns="0" tIns="0" rIns="0" bIns="0" rtlCol="0" anchor="ctr"/>
          <a:lstStyle/>
          <a:p>
            <a:pPr indent="0" marL="0">
              <a:buNone/>
            </a:pPr>
            <a:r>
              <a:rPr lang="en-US" sz="1350" dirty="0">
                <a:solidFill>
                  <a:schemeClr val="bg1"/>
                </a:solidFill>
              </a:rPr>
              <a:t>Copy the code and the .env file to the VM</a:t>
            </a:r>
            <a:endParaRPr lang="en-US" sz="1350" dirty="0"/>
          </a:p>
        </p:txBody>
      </p:sp>
      <p:sp>
        <p:nvSpPr>
          <p:cNvPr id="19" name="Before step 5 circle"/>
          <p:cNvSpPr/>
          <p:nvPr/>
        </p:nvSpPr>
        <p:spPr>
          <a:xfrm>
            <a:off x="804672" y="3794760"/>
            <a:ext cx="274320" cy="274320"/>
          </a:xfrm>
          <a:prstGeom prst="ellipse">
            <a:avLst/>
          </a:prstGeom>
          <a:solidFill>
            <a:schemeClr val="tx2"/>
          </a:solidFill>
          <a:ln w="12700">
            <a:solidFill>
              <a:schemeClr val="accent2"/>
            </a:solidFill>
            <a:prstDash val="solid"/>
          </a:ln>
        </p:spPr>
      </p:sp>
      <p:sp>
        <p:nvSpPr>
          <p:cNvPr id="20" name="Before step 5 number"/>
          <p:cNvSpPr txBox="1"/>
          <p:nvPr/>
        </p:nvSpPr>
        <p:spPr>
          <a:xfrm>
            <a:off x="804672" y="3794760"/>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5</a:t>
            </a:r>
            <a:endParaRPr lang="en-US" sz="1100" dirty="0"/>
          </a:p>
        </p:txBody>
      </p:sp>
      <p:sp>
        <p:nvSpPr>
          <p:cNvPr id="21" name="Before step 5 text"/>
          <p:cNvSpPr txBox="1"/>
          <p:nvPr/>
        </p:nvSpPr>
        <p:spPr>
          <a:xfrm>
            <a:off x="1243584" y="3776472"/>
            <a:ext cx="4617720" cy="310896"/>
          </a:xfrm>
          <a:prstGeom prst="rect">
            <a:avLst/>
          </a:prstGeom>
          <a:noFill/>
          <a:ln/>
        </p:spPr>
        <p:txBody>
          <a:bodyPr wrap="square" lIns="0" tIns="0" rIns="0" bIns="0" rtlCol="0" anchor="ctr"/>
          <a:lstStyle/>
          <a:p>
            <a:pPr indent="0" marL="0">
              <a:buNone/>
            </a:pPr>
            <a:r>
              <a:rPr lang="en-US" sz="1350" dirty="0">
                <a:solidFill>
                  <a:schemeClr val="bg1"/>
                </a:solidFill>
              </a:rPr>
              <a:t>Seed the database and train the model on the VM</a:t>
            </a:r>
            <a:endParaRPr lang="en-US" sz="1350" dirty="0"/>
          </a:p>
        </p:txBody>
      </p:sp>
      <p:sp>
        <p:nvSpPr>
          <p:cNvPr id="22" name="Before step 6 circle"/>
          <p:cNvSpPr/>
          <p:nvPr/>
        </p:nvSpPr>
        <p:spPr>
          <a:xfrm>
            <a:off x="804672" y="4178808"/>
            <a:ext cx="274320" cy="274320"/>
          </a:xfrm>
          <a:prstGeom prst="ellipse">
            <a:avLst/>
          </a:prstGeom>
          <a:solidFill>
            <a:schemeClr val="tx2"/>
          </a:solidFill>
          <a:ln w="12700">
            <a:solidFill>
              <a:schemeClr val="accent2"/>
            </a:solidFill>
            <a:prstDash val="solid"/>
          </a:ln>
        </p:spPr>
      </p:sp>
      <p:sp>
        <p:nvSpPr>
          <p:cNvPr id="23" name="Before step 6 number"/>
          <p:cNvSpPr txBox="1"/>
          <p:nvPr/>
        </p:nvSpPr>
        <p:spPr>
          <a:xfrm>
            <a:off x="804672" y="4178808"/>
            <a:ext cx="274320" cy="274320"/>
          </a:xfrm>
          <a:prstGeom prst="rect">
            <a:avLst/>
          </a:prstGeom>
          <a:noFill/>
          <a:ln/>
        </p:spPr>
        <p:txBody>
          <a:bodyPr wrap="square" lIns="0" tIns="0" rIns="0" bIns="0" rtlCol="0" anchor="ctr"/>
          <a:lstStyle/>
          <a:p>
            <a:pPr algn="ctr" indent="0" marL="0">
              <a:buNone/>
            </a:pPr>
            <a:r>
              <a:rPr lang="en-US" sz="1100" b="1" dirty="0">
                <a:solidFill>
                  <a:schemeClr val="accent2"/>
                </a:solidFill>
              </a:rPr>
              <a:t>6</a:t>
            </a:r>
            <a:endParaRPr lang="en-US" sz="1100" dirty="0"/>
          </a:p>
        </p:txBody>
      </p:sp>
      <p:sp>
        <p:nvSpPr>
          <p:cNvPr id="24" name="Before step 6 text"/>
          <p:cNvSpPr txBox="1"/>
          <p:nvPr/>
        </p:nvSpPr>
        <p:spPr>
          <a:xfrm>
            <a:off x="1243584" y="4160520"/>
            <a:ext cx="4617720" cy="310896"/>
          </a:xfrm>
          <a:prstGeom prst="rect">
            <a:avLst/>
          </a:prstGeom>
          <a:noFill/>
          <a:ln/>
        </p:spPr>
        <p:txBody>
          <a:bodyPr wrap="square" lIns="0" tIns="0" rIns="0" bIns="0" rtlCol="0" anchor="ctr"/>
          <a:lstStyle/>
          <a:p>
            <a:pPr indent="0" marL="0">
              <a:buNone/>
            </a:pPr>
            <a:r>
              <a:rPr lang="en-US" sz="1350" dirty="0">
                <a:solidFill>
                  <a:schemeClr val="bg1"/>
                </a:solidFill>
              </a:rPr>
              <a:t>Start Postgres, uvicorn and the UI by hand</a:t>
            </a:r>
            <a:endParaRPr lang="en-US" sz="1350" dirty="0"/>
          </a:p>
        </p:txBody>
      </p:sp>
      <p:sp>
        <p:nvSpPr>
          <p:cNvPr id="25" name="Before footer"/>
          <p:cNvSpPr txBox="1"/>
          <p:nvPr/>
        </p:nvSpPr>
        <p:spPr>
          <a:xfrm>
            <a:off x="804672" y="4608576"/>
            <a:ext cx="5029200" cy="237744"/>
          </a:xfrm>
          <a:prstGeom prst="rect">
            <a:avLst/>
          </a:prstGeom>
          <a:noFill/>
          <a:ln/>
        </p:spPr>
        <p:txBody>
          <a:bodyPr wrap="square" lIns="0" tIns="0" rIns="0" bIns="0" rtlCol="0" anchor="t"/>
          <a:lstStyle/>
          <a:p>
            <a:pPr indent="0" marL="0">
              <a:buNone/>
            </a:pPr>
            <a:r>
              <a:rPr lang="en-US" sz="1150" i="1" dirty="0">
                <a:solidFill>
                  <a:schemeClr val="bg2"/>
                </a:solidFill>
              </a:rPr>
              <a:t>Repeat all of it, by hand, on every new machine</a:t>
            </a:r>
            <a:endParaRPr lang="en-US" sz="1150" dirty="0"/>
          </a:p>
        </p:txBody>
      </p:sp>
      <p:sp>
        <p:nvSpPr>
          <p:cNvPr id="26" name="After card"/>
          <p:cNvSpPr/>
          <p:nvPr/>
        </p:nvSpPr>
        <p:spPr>
          <a:xfrm>
            <a:off x="6199632" y="1572768"/>
            <a:ext cx="5440680" cy="3401568"/>
          </a:xfrm>
          <a:prstGeom prst="roundRect">
            <a:avLst>
              <a:gd name="adj" fmla="val 1613"/>
            </a:avLst>
          </a:prstGeom>
          <a:solidFill>
            <a:schemeClr val="tx2"/>
          </a:solidFill>
          <a:ln w="12700">
            <a:solidFill>
              <a:schemeClr val="accent1"/>
            </a:solidFill>
            <a:prstDash val="solid"/>
          </a:ln>
        </p:spPr>
      </p:sp>
      <p:pic>
        <p:nvPicPr>
          <p:cNvPr id="27" name="After icon" descr="preencoded.png">    </p:cNvPr>
          <p:cNvPicPr>
            <a:picLocks noChangeAspect="1"/>
          </p:cNvPicPr>
          <p:nvPr/>
        </p:nvPicPr>
        <p:blipFill>
          <a:blip r:embed="rId2"/>
          <a:stretch>
            <a:fillRect/>
          </a:stretch>
        </p:blipFill>
        <p:spPr>
          <a:xfrm>
            <a:off x="6428232" y="1755648"/>
            <a:ext cx="329184" cy="329184"/>
          </a:xfrm>
          <a:prstGeom prst="rect">
            <a:avLst/>
          </a:prstGeom>
        </p:spPr>
      </p:pic>
      <p:sp>
        <p:nvSpPr>
          <p:cNvPr id="28" name="After header"/>
          <p:cNvSpPr txBox="1"/>
          <p:nvPr/>
        </p:nvSpPr>
        <p:spPr>
          <a:xfrm>
            <a:off x="6858000" y="1737360"/>
            <a:ext cx="4572000" cy="365760"/>
          </a:xfrm>
          <a:prstGeom prst="rect">
            <a:avLst/>
          </a:prstGeom>
          <a:noFill/>
          <a:ln/>
        </p:spPr>
        <p:txBody>
          <a:bodyPr wrap="square" lIns="0" tIns="0" rIns="0" bIns="0" rtlCol="0" anchor="ctr"/>
          <a:lstStyle/>
          <a:p>
            <a:pPr indent="0" marL="0">
              <a:buNone/>
            </a:pPr>
            <a:r>
              <a:rPr lang="en-US" sz="1500" b="1" dirty="0">
                <a:solidFill>
                  <a:schemeClr val="accent1"/>
                </a:solidFill>
              </a:rPr>
              <a:t>AFTER — 2 commands, one image</a:t>
            </a:r>
            <a:endParaRPr lang="en-US" sz="1500" dirty="0"/>
          </a:p>
        </p:txBody>
      </p:sp>
      <p:sp>
        <p:nvSpPr>
          <p:cNvPr id="29" name="After label 1"/>
          <p:cNvSpPr txBox="1"/>
          <p:nvPr/>
        </p:nvSpPr>
        <p:spPr>
          <a:xfrm>
            <a:off x="6455664" y="2194560"/>
            <a:ext cx="4937760" cy="219456"/>
          </a:xfrm>
          <a:prstGeom prst="rect">
            <a:avLst/>
          </a:prstGeom>
          <a:noFill/>
          <a:ln/>
        </p:spPr>
        <p:txBody>
          <a:bodyPr wrap="square" lIns="0" tIns="0" rIns="0" bIns="0" rtlCol="0" anchor="t"/>
          <a:lstStyle/>
          <a:p>
            <a:pPr indent="0" marL="0">
              <a:buNone/>
            </a:pPr>
            <a:r>
              <a:rPr lang="en-US" sz="1050" b="1" spc="100" kern="0" dirty="0">
                <a:solidFill>
                  <a:schemeClr val="bg2"/>
                </a:solidFill>
              </a:rPr>
              <a:t>LAPTOP — ONCE PER RELEASE</a:t>
            </a:r>
            <a:endParaRPr lang="en-US" sz="1050" dirty="0"/>
          </a:p>
        </p:txBody>
      </p:sp>
      <p:sp>
        <p:nvSpPr>
          <p:cNvPr id="30" name="After code box 1"/>
          <p:cNvSpPr/>
          <p:nvPr/>
        </p:nvSpPr>
        <p:spPr>
          <a:xfrm>
            <a:off x="6455664" y="2441448"/>
            <a:ext cx="4937760" cy="384048"/>
          </a:xfrm>
          <a:prstGeom prst="roundRect">
            <a:avLst>
              <a:gd name="adj" fmla="val 14286"/>
            </a:avLst>
          </a:prstGeom>
          <a:solidFill>
            <a:schemeClr val="tx1"/>
          </a:solidFill>
          <a:ln w="9525">
            <a:solidFill>
              <a:schemeClr val="accent3"/>
            </a:solidFill>
            <a:prstDash val="solid"/>
          </a:ln>
        </p:spPr>
      </p:sp>
      <p:sp>
        <p:nvSpPr>
          <p:cNvPr id="31" name="After code 1"/>
          <p:cNvSpPr txBox="1"/>
          <p:nvPr/>
        </p:nvSpPr>
        <p:spPr>
          <a:xfrm>
            <a:off x="6583680" y="2441448"/>
            <a:ext cx="4754880" cy="384048"/>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./deploy/build_and_push.sh v1</a:t>
            </a:r>
            <a:endParaRPr lang="en-US" sz="1300" dirty="0"/>
          </a:p>
        </p:txBody>
      </p:sp>
      <p:sp>
        <p:nvSpPr>
          <p:cNvPr id="32" name="After label 2"/>
          <p:cNvSpPr txBox="1"/>
          <p:nvPr/>
        </p:nvSpPr>
        <p:spPr>
          <a:xfrm>
            <a:off x="6455664" y="2898648"/>
            <a:ext cx="4937760" cy="219456"/>
          </a:xfrm>
          <a:prstGeom prst="rect">
            <a:avLst/>
          </a:prstGeom>
          <a:noFill/>
          <a:ln/>
        </p:spPr>
        <p:txBody>
          <a:bodyPr wrap="square" lIns="0" tIns="0" rIns="0" bIns="0" rtlCol="0" anchor="t"/>
          <a:lstStyle/>
          <a:p>
            <a:pPr indent="0" marL="0">
              <a:buNone/>
            </a:pPr>
            <a:r>
              <a:rPr lang="en-US" sz="1050" b="1" spc="100" kern="0" dirty="0">
                <a:solidFill>
                  <a:schemeClr val="bg2"/>
                </a:solidFill>
              </a:rPr>
              <a:t>VM — DOCKER COMPOSE PULL + UP --NO-BUILD</a:t>
            </a:r>
            <a:endParaRPr lang="en-US" sz="1050" dirty="0"/>
          </a:p>
        </p:txBody>
      </p:sp>
      <p:sp>
        <p:nvSpPr>
          <p:cNvPr id="33" name="After code box 2"/>
          <p:cNvSpPr/>
          <p:nvPr/>
        </p:nvSpPr>
        <p:spPr>
          <a:xfrm>
            <a:off x="6455664" y="3145536"/>
            <a:ext cx="4937760" cy="384048"/>
          </a:xfrm>
          <a:prstGeom prst="roundRect">
            <a:avLst>
              <a:gd name="adj" fmla="val 14286"/>
            </a:avLst>
          </a:prstGeom>
          <a:solidFill>
            <a:schemeClr val="tx1"/>
          </a:solidFill>
          <a:ln w="9525">
            <a:solidFill>
              <a:schemeClr val="accent3"/>
            </a:solidFill>
            <a:prstDash val="solid"/>
          </a:ln>
        </p:spPr>
      </p:sp>
      <p:sp>
        <p:nvSpPr>
          <p:cNvPr id="34" name="After code 2"/>
          <p:cNvSpPr txBox="1"/>
          <p:nvPr/>
        </p:nvSpPr>
        <p:spPr>
          <a:xfrm>
            <a:off x="6583680" y="3145536"/>
            <a:ext cx="4754880" cy="384048"/>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git pull &amp;&amp; ./deploy/vm_deploy.sh</a:t>
            </a:r>
            <a:endParaRPr lang="en-US" sz="1300" dirty="0"/>
          </a:p>
        </p:txBody>
      </p:sp>
      <p:pic>
        <p:nvPicPr>
          <p:cNvPr id="35" name="After check 1" descr="preencoded.png">    </p:cNvPr>
          <p:cNvPicPr>
            <a:picLocks noChangeAspect="1"/>
          </p:cNvPicPr>
          <p:nvPr/>
        </p:nvPicPr>
        <p:blipFill>
          <a:blip r:embed="rId3"/>
          <a:stretch>
            <a:fillRect/>
          </a:stretch>
        </p:blipFill>
        <p:spPr>
          <a:xfrm>
            <a:off x="6473952" y="3675888"/>
            <a:ext cx="201168" cy="201168"/>
          </a:xfrm>
          <a:prstGeom prst="rect">
            <a:avLst/>
          </a:prstGeom>
        </p:spPr>
      </p:pic>
      <p:sp>
        <p:nvSpPr>
          <p:cNvPr id="36" name="After point 1"/>
          <p:cNvSpPr txBox="1"/>
          <p:nvPr/>
        </p:nvSpPr>
        <p:spPr>
          <a:xfrm>
            <a:off x="6784848" y="3639312"/>
            <a:ext cx="4663440" cy="274320"/>
          </a:xfrm>
          <a:prstGeom prst="rect">
            <a:avLst/>
          </a:prstGeom>
          <a:noFill/>
          <a:ln/>
        </p:spPr>
        <p:txBody>
          <a:bodyPr wrap="square" lIns="0" tIns="0" rIns="0" bIns="0" rtlCol="0" anchor="ctr"/>
          <a:lstStyle/>
          <a:p>
            <a:pPr indent="0" marL="0">
              <a:buNone/>
            </a:pPr>
            <a:r>
              <a:rPr lang="en-US" sz="1300" dirty="0">
                <a:solidFill>
                  <a:schemeClr val="bg1"/>
                </a:solidFill>
              </a:rPr>
              <a:t>Postgres from .env; the DB seeds itself on first boot</a:t>
            </a:r>
            <a:endParaRPr lang="en-US" sz="1300" dirty="0"/>
          </a:p>
        </p:txBody>
      </p:sp>
      <p:pic>
        <p:nvPicPr>
          <p:cNvPr id="37" name="After check 2" descr="preencoded.png">    </p:cNvPr>
          <p:cNvPicPr>
            <a:picLocks noChangeAspect="1"/>
          </p:cNvPicPr>
          <p:nvPr/>
        </p:nvPicPr>
        <p:blipFill>
          <a:blip r:embed="rId4"/>
          <a:stretch>
            <a:fillRect/>
          </a:stretch>
        </p:blipFill>
        <p:spPr>
          <a:xfrm>
            <a:off x="6473952" y="3977640"/>
            <a:ext cx="201168" cy="201168"/>
          </a:xfrm>
          <a:prstGeom prst="rect">
            <a:avLst/>
          </a:prstGeom>
        </p:spPr>
      </p:pic>
      <p:sp>
        <p:nvSpPr>
          <p:cNvPr id="38" name="After point 2"/>
          <p:cNvSpPr txBox="1"/>
          <p:nvPr/>
        </p:nvSpPr>
        <p:spPr>
          <a:xfrm>
            <a:off x="6784848" y="3941064"/>
            <a:ext cx="4663440" cy="274320"/>
          </a:xfrm>
          <a:prstGeom prst="rect">
            <a:avLst/>
          </a:prstGeom>
          <a:noFill/>
          <a:ln/>
        </p:spPr>
        <p:txBody>
          <a:bodyPr wrap="square" lIns="0" tIns="0" rIns="0" bIns="0" rtlCol="0" anchor="ctr"/>
          <a:lstStyle/>
          <a:p>
            <a:pPr indent="0" marL="0">
              <a:buNone/>
            </a:pPr>
            <a:r>
              <a:rPr lang="en-US" sz="1300" dirty="0">
                <a:solidFill>
                  <a:schemeClr val="bg1"/>
                </a:solidFill>
              </a:rPr>
              <a:t>Python deps, React build and model ship in the images</a:t>
            </a:r>
            <a:endParaRPr lang="en-US" sz="1300" dirty="0"/>
          </a:p>
        </p:txBody>
      </p:sp>
      <p:pic>
        <p:nvPicPr>
          <p:cNvPr id="39" name="After check 3" descr="preencoded.png">    </p:cNvPr>
          <p:cNvPicPr>
            <a:picLocks noChangeAspect="1"/>
          </p:cNvPicPr>
          <p:nvPr/>
        </p:nvPicPr>
        <p:blipFill>
          <a:blip r:embed="rId5"/>
          <a:stretch>
            <a:fillRect/>
          </a:stretch>
        </p:blipFill>
        <p:spPr>
          <a:xfrm>
            <a:off x="6473952" y="4279392"/>
            <a:ext cx="201168" cy="201168"/>
          </a:xfrm>
          <a:prstGeom prst="rect">
            <a:avLst/>
          </a:prstGeom>
        </p:spPr>
      </p:pic>
      <p:sp>
        <p:nvSpPr>
          <p:cNvPr id="40" name="After point 3"/>
          <p:cNvSpPr txBox="1"/>
          <p:nvPr/>
        </p:nvSpPr>
        <p:spPr>
          <a:xfrm>
            <a:off x="6784848" y="4242816"/>
            <a:ext cx="4663440" cy="274320"/>
          </a:xfrm>
          <a:prstGeom prst="rect">
            <a:avLst/>
          </a:prstGeom>
          <a:noFill/>
          <a:ln/>
        </p:spPr>
        <p:txBody>
          <a:bodyPr wrap="square" lIns="0" tIns="0" rIns="0" bIns="0" rtlCol="0" anchor="ctr"/>
          <a:lstStyle/>
          <a:p>
            <a:pPr indent="0" marL="0">
              <a:buNone/>
            </a:pPr>
            <a:r>
              <a:rPr lang="en-US" sz="1300" dirty="0">
                <a:solidFill>
                  <a:schemeClr val="bg1"/>
                </a:solidFill>
              </a:rPr>
              <a:t>Health checks + restart: unless-stopped keep it up</a:t>
            </a:r>
            <a:endParaRPr lang="en-US" sz="1300" dirty="0"/>
          </a:p>
        </p:txBody>
      </p:sp>
      <p:pic>
        <p:nvPicPr>
          <p:cNvPr id="41" name="After check 4" descr="preencoded.png">    </p:cNvPr>
          <p:cNvPicPr>
            <a:picLocks noChangeAspect="1"/>
          </p:cNvPicPr>
          <p:nvPr/>
        </p:nvPicPr>
        <p:blipFill>
          <a:blip r:embed="rId6"/>
          <a:stretch>
            <a:fillRect/>
          </a:stretch>
        </p:blipFill>
        <p:spPr>
          <a:xfrm>
            <a:off x="6473952" y="4581144"/>
            <a:ext cx="201168" cy="201168"/>
          </a:xfrm>
          <a:prstGeom prst="rect">
            <a:avLst/>
          </a:prstGeom>
        </p:spPr>
      </p:pic>
      <p:sp>
        <p:nvSpPr>
          <p:cNvPr id="42" name="After point 4"/>
          <p:cNvSpPr txBox="1"/>
          <p:nvPr/>
        </p:nvSpPr>
        <p:spPr>
          <a:xfrm>
            <a:off x="6784848" y="4544568"/>
            <a:ext cx="4663440" cy="274320"/>
          </a:xfrm>
          <a:prstGeom prst="rect">
            <a:avLst/>
          </a:prstGeom>
          <a:noFill/>
          <a:ln/>
        </p:spPr>
        <p:txBody>
          <a:bodyPr wrap="square" lIns="0" tIns="0" rIns="0" bIns="0" rtlCol="0" anchor="ctr"/>
          <a:lstStyle/>
          <a:p>
            <a:pPr indent="0" marL="0">
              <a:buNone/>
            </a:pPr>
            <a:r>
              <a:rPr lang="en-US" sz="1300" dirty="0">
                <a:solidFill>
                  <a:schemeClr val="bg1"/>
                </a:solidFill>
              </a:rPr>
              <a:t>Same sha256 digest on the laptop and the VM</a:t>
            </a:r>
            <a:endParaRPr lang="en-US" sz="1300" dirty="0"/>
          </a:p>
        </p:txBody>
      </p:sp>
      <p:sp>
        <p:nvSpPr>
          <p:cNvPr id="43" name="Problem solved card"/>
          <p:cNvSpPr/>
          <p:nvPr/>
        </p:nvSpPr>
        <p:spPr>
          <a:xfrm>
            <a:off x="548640" y="5138928"/>
            <a:ext cx="11091672" cy="1261872"/>
          </a:xfrm>
          <a:prstGeom prst="roundRect">
            <a:avLst>
              <a:gd name="adj" fmla="val 4348"/>
            </a:avLst>
          </a:prstGeom>
          <a:solidFill>
            <a:schemeClr val="accent4"/>
          </a:solidFill>
          <a:ln w="12700">
            <a:solidFill>
              <a:schemeClr val="accent3"/>
            </a:solidFill>
            <a:prstDash val="solid"/>
          </a:ln>
        </p:spPr>
      </p:sp>
      <p:sp>
        <p:nvSpPr>
          <p:cNvPr id="44" name="Problem icon circle"/>
          <p:cNvSpPr/>
          <p:nvPr/>
        </p:nvSpPr>
        <p:spPr>
          <a:xfrm>
            <a:off x="777240" y="5358384"/>
            <a:ext cx="512064" cy="512064"/>
          </a:xfrm>
          <a:prstGeom prst="ellipse">
            <a:avLst/>
          </a:prstGeom>
          <a:solidFill>
            <a:schemeClr val="accent1"/>
          </a:solidFill>
          <a:ln w="6350">
            <a:solidFill>
              <a:schemeClr val="accent1"/>
            </a:solidFill>
            <a:prstDash val="solid"/>
          </a:ln>
        </p:spPr>
      </p:sp>
      <p:pic>
        <p:nvPicPr>
          <p:cNvPr id="45" name="Problem icon" descr="preencoded.png">    </p:cNvPr>
          <p:cNvPicPr>
            <a:picLocks noChangeAspect="1"/>
          </p:cNvPicPr>
          <p:nvPr/>
        </p:nvPicPr>
        <p:blipFill>
          <a:blip r:embed="rId7"/>
          <a:stretch>
            <a:fillRect/>
          </a:stretch>
        </p:blipFill>
        <p:spPr>
          <a:xfrm>
            <a:off x="886968" y="5468112"/>
            <a:ext cx="292608" cy="292608"/>
          </a:xfrm>
          <a:prstGeom prst="rect">
            <a:avLst/>
          </a:prstGeom>
        </p:spPr>
      </p:pic>
      <p:sp>
        <p:nvSpPr>
          <p:cNvPr id="46" name="Problem header"/>
          <p:cNvSpPr txBox="1"/>
          <p:nvPr/>
        </p:nvSpPr>
        <p:spPr>
          <a:xfrm>
            <a:off x="1481328" y="5266944"/>
            <a:ext cx="9966960" cy="310896"/>
          </a:xfrm>
          <a:prstGeom prst="rect">
            <a:avLst/>
          </a:prstGeom>
          <a:noFill/>
          <a:ln/>
        </p:spPr>
        <p:txBody>
          <a:bodyPr wrap="square" lIns="0" tIns="0" rIns="0" bIns="0" rtlCol="0" anchor="t"/>
          <a:lstStyle/>
          <a:p>
            <a:pPr indent="0" marL="0">
              <a:buNone/>
            </a:pPr>
            <a:r>
              <a:rPr lang="en-US" sz="1500" b="1" dirty="0">
                <a:solidFill>
                  <a:schemeClr val="accent1"/>
                </a:solidFill>
              </a:rPr>
              <a:t>The problem containerization solved: a build that only worked on one host</a:t>
            </a:r>
            <a:endParaRPr lang="en-US" sz="1500" dirty="0"/>
          </a:p>
        </p:txBody>
      </p:sp>
      <p:sp>
        <p:nvSpPr>
          <p:cNvPr id="47" name="Problem body"/>
          <p:cNvSpPr txBox="1"/>
          <p:nvPr/>
        </p:nvSpPr>
        <p:spPr>
          <a:xfrm>
            <a:off x="1481328" y="5596128"/>
            <a:ext cx="9966960" cy="731520"/>
          </a:xfrm>
          <a:prstGeom prst="rect">
            <a:avLst/>
          </a:prstGeom>
          <a:noFill/>
          <a:ln/>
        </p:spPr>
        <p:txBody>
          <a:bodyPr wrap="square" lIns="0" tIns="0" rIns="0" bIns="0" rtlCol="0" anchor="t"/>
          <a:lstStyle/>
          <a:p>
            <a:pPr indent="0" marL="0">
              <a:buNone/>
            </a:pPr>
            <a:r>
              <a:rPr lang="en-US" sz="1300" dirty="0">
                <a:solidFill>
                  <a:schemeClr val="bg1"/>
                </a:solidFill>
              </a:rPr>
              <a:t>Vite bakes the API URL into the React bundle at build time. Ours said http://localhost:8000, so a laptop build sent the VM's dashboard looking for the API on the viewer's own machine — every environment needed its own rebuild and CORS list. Now the bundle calls relative /api/ paths and nginx proxies them across the compose network: one image, any host.</a:t>
            </a:r>
            <a:endParaRPr lang="en-US" sz="1300" dirty="0"/>
          </a:p>
        </p:txBody>
      </p:sp>
    </p:spTree>
  </p:cSld>
  <p:clrMapOvr>
    <a:masterClrMapping/>
  </p:clrMapOvr>
</p:sld>
</file>

<file path=ppt/theme/theme1.xml><?xml version="1.0" encoding="utf-8"?>
<a:theme xmlns:a="http://schemas.openxmlformats.org/drawingml/2006/main" name="GridPulse Control Room">
  <a:themeElements>
    <a:clrScheme name="GridPulse Control Room">
      <a:dk1>
        <a:srgbClr val="0C1420"/>
      </a:dk1>
      <a:lt1>
        <a:srgbClr val="EAF1F7"/>
      </a:lt1>
      <a:dk2>
        <a:srgbClr val="121D2E"/>
      </a:dk2>
      <a:lt2>
        <a:srgbClr val="8EA0B8"/>
      </a:lt2>
      <a:accent1>
        <a:srgbClr val="4FD1C5"/>
      </a:accent1>
      <a:accent2>
        <a:srgbClr val="FFB454"/>
      </a:accent2>
      <a:accent3>
        <a:srgbClr val="24374F"/>
      </a:accent3>
      <a:accent4>
        <a:srgbClr val="1A2A40"/>
      </a:accent4>
      <a:accent5>
        <a:srgbClr val="F27C6B"/>
      </a:accent5>
      <a:accent6>
        <a:srgbClr val="9BE7DF"/>
      </a:accent6>
      <a:hlink>
        <a:srgbClr val="4FD1C5"/>
      </a:hlink>
      <a:folHlink>
        <a:srgbClr val="8EA0B8"/>
      </a:folHlink>
    </a:clrScheme>
    <a:fontScheme name="GridPulse Control Roo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GridPulse — Milestone 3: Containerize &amp; Ship</dc:title>
  <dc:subject>PptxGenJS Presentation</dc:subject>
  <dc:creator>Team 9</dc:creator>
  <cp:lastModifiedBy>Team 9</cp:lastModifiedBy>
  <cp:revision>1</cp:revision>
  <dcterms:created xsi:type="dcterms:W3CDTF">2026-10-03T22:57:12Z</dcterms:created>
  <dcterms:modified xsi:type="dcterms:W3CDTF">2026-10-03T22:57:12Z</dcterms:modified>
</cp:coreProperties>
</file>