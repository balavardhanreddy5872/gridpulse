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lestone 5" id="{85529d4c-ccf4-9ced-c129-665a37291c6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request left to right. The browser resolves our DuckDNS name to a reserved global IP. That IP belongs to a Google Cloud load balancer that the GKE Ingress created for us: it terminates TLS with a Google-managed certificate and answers plain http with a 301 to https. The Ingress sends /api/* to the backend Service and everything else to the frontend Service. Each Service load-balances straight to pod IPs (NEG) and only to pods that pass their readiness probe. Each app runs at least two replicas; the HPA adds up to two more under load, and a PodDisruptionBudget stops maintenance from taking more than one down at a time. All state is still outside the cluster from Milestone 4: Cloud SQL on a private IP, the uploads bucket and Secret Manager, reached as gridpulse-gke-app through Workload Identity, with no key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Liveness answers one question: is this process still able to run code? It never touches the database, because a restart cannot fix a database problem. Readiness answers: can this pod serve a real request right now? It runs SELECT 1 on Cloud SQL with a 2-second limit on a dedicated one-connection pool, so a busy pod is not wrongly marked unready. If readiness fails, the pod only stops getting traffic. If liveness fails, the container is restarted. The startup probe gives a new pod up to three minutes before liveness applies. The nginx frontend has no dependencies, so both of its probes use /healthz.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Orchestration topology: hostname to pods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Kubernetes runs the containers now: replicas heal themselves, scale with load, and sit behind one HTTPS address.</a:t>
            </a:r>
            <a:endParaRPr lang="en-US" sz="1400" dirty="0"/>
          </a:p>
        </p:txBody>
      </p:sp>
      <p:pic>
        <p:nvPicPr>
          <p:cNvPr id="4" name="brows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83080"/>
            <a:ext cx="502920" cy="502920"/>
          </a:xfrm>
          <a:prstGeom prst="rect">
            <a:avLst/>
          </a:prstGeom>
        </p:spPr>
      </p:pic>
      <p:sp>
        <p:nvSpPr>
          <p:cNvPr id="5" name="text-1"/>
          <p:cNvSpPr txBox="1"/>
          <p:nvPr/>
        </p:nvSpPr>
        <p:spPr>
          <a:xfrm>
            <a:off x="548640" y="2377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</a:t>
            </a:r>
            <a:endParaRPr lang="en-US" sz="1400" dirty="0"/>
          </a:p>
        </p:txBody>
      </p:sp>
      <p:sp>
        <p:nvSpPr>
          <p:cNvPr id="6" name="text-2"/>
          <p:cNvSpPr txBox="1"/>
          <p:nvPr/>
        </p:nvSpPr>
        <p:spPr>
          <a:xfrm>
            <a:off x="54864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https://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gridpulse-9.duckdns.org</a:t>
            </a:r>
            <a:endParaRPr lang="en-US" sz="1100" dirty="0"/>
          </a:p>
        </p:txBody>
      </p:sp>
      <p:sp>
        <p:nvSpPr>
          <p:cNvPr id="7" name="dns-card-3"/>
          <p:cNvSpPr/>
          <p:nvPr/>
        </p:nvSpPr>
        <p:spPr>
          <a:xfrm>
            <a:off x="548640" y="3291840"/>
            <a:ext cx="16002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dns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19856"/>
            <a:ext cx="274320" cy="274320"/>
          </a:xfrm>
          <a:prstGeom prst="rect">
            <a:avLst/>
          </a:prstGeom>
        </p:spPr>
      </p:pic>
      <p:sp>
        <p:nvSpPr>
          <p:cNvPr id="9" name="text-4"/>
          <p:cNvSpPr txBox="1"/>
          <p:nvPr/>
        </p:nvSpPr>
        <p:spPr>
          <a:xfrm>
            <a:off x="1060704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DNS</a:t>
            </a:r>
            <a:endParaRPr lang="en-US" sz="1250" dirty="0"/>
          </a:p>
        </p:txBody>
      </p:sp>
      <p:sp>
        <p:nvSpPr>
          <p:cNvPr id="10" name="text-5"/>
          <p:cNvSpPr txBox="1"/>
          <p:nvPr/>
        </p:nvSpPr>
        <p:spPr>
          <a:xfrm>
            <a:off x="713232" y="37673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DuckDNS A record → reserved global IP gridpulse-gke-ip</a:t>
            </a:r>
            <a:endParaRPr lang="en-US" sz="1000" dirty="0"/>
          </a:p>
        </p:txBody>
      </p:sp>
      <p:sp>
        <p:nvSpPr>
          <p:cNvPr id="11" name="redirect-pill-6"/>
          <p:cNvSpPr/>
          <p:nvPr/>
        </p:nvSpPr>
        <p:spPr>
          <a:xfrm>
            <a:off x="548640" y="4572000"/>
            <a:ext cx="160020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-7"/>
          <p:cNvSpPr txBox="1"/>
          <p:nvPr/>
        </p:nvSpPr>
        <p:spPr>
          <a:xfrm>
            <a:off x="548640" y="4608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http://  → 301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https://</a:t>
            </a:r>
            <a:endParaRPr lang="en-US" sz="1050" dirty="0"/>
          </a:p>
        </p:txBody>
      </p:sp>
      <p:sp>
        <p:nvSpPr>
          <p:cNvPr id="13" name="lb-card-8"/>
          <p:cNvSpPr/>
          <p:nvPr/>
        </p:nvSpPr>
        <p:spPr>
          <a:xfrm>
            <a:off x="2423160" y="1783080"/>
            <a:ext cx="2103120" cy="333756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lb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938528"/>
            <a:ext cx="329184" cy="329184"/>
          </a:xfrm>
          <a:prstGeom prst="rect">
            <a:avLst/>
          </a:prstGeom>
        </p:spPr>
      </p:pic>
      <p:sp>
        <p:nvSpPr>
          <p:cNvPr id="15" name="text-9"/>
          <p:cNvSpPr txBox="1"/>
          <p:nvPr/>
        </p:nvSpPr>
        <p:spPr>
          <a:xfrm>
            <a:off x="3017520" y="19019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Google Cloud load balancer</a:t>
            </a:r>
            <a:endParaRPr lang="en-US" sz="1300" dirty="0"/>
          </a:p>
        </p:txBody>
      </p:sp>
      <p:sp>
        <p:nvSpPr>
          <p:cNvPr id="16" name="text-10"/>
          <p:cNvSpPr txBox="1"/>
          <p:nvPr/>
        </p:nvSpPr>
        <p:spPr>
          <a:xfrm>
            <a:off x="2606040" y="23957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external Application LB (classic), created by the Ingress</a:t>
            </a:r>
            <a:endParaRPr lang="en-US" sz="1000" dirty="0"/>
          </a:p>
        </p:txBody>
      </p:sp>
      <p:sp>
        <p:nvSpPr>
          <p:cNvPr id="17" name="text-11"/>
          <p:cNvSpPr txBox="1"/>
          <p:nvPr/>
        </p:nvSpPr>
        <p:spPr>
          <a:xfrm>
            <a:off x="2606040" y="2852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chemeClr val="bg2"/>
                </a:solidFill>
              </a:rPr>
              <a:t>STATIC IP</a:t>
            </a:r>
            <a:endParaRPr lang="en-US" sz="850" dirty="0"/>
          </a:p>
        </p:txBody>
      </p:sp>
      <p:sp>
        <p:nvSpPr>
          <p:cNvPr id="18" name="text-12"/>
          <p:cNvSpPr txBox="1"/>
          <p:nvPr/>
        </p:nvSpPr>
        <p:spPr>
          <a:xfrm>
            <a:off x="2606040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gridpulse-gke-ip</a:t>
            </a:r>
            <a:endParaRPr lang="en-US" sz="1100" dirty="0"/>
          </a:p>
        </p:txBody>
      </p:sp>
      <p:sp>
        <p:nvSpPr>
          <p:cNvPr id="19" name="text-13"/>
          <p:cNvSpPr txBox="1"/>
          <p:nvPr/>
        </p:nvSpPr>
        <p:spPr>
          <a:xfrm>
            <a:off x="2606040" y="3401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chemeClr val="bg2"/>
                </a:solidFill>
              </a:rPr>
              <a:t>TLS CERTIFICATE</a:t>
            </a:r>
            <a:endParaRPr lang="en-US" sz="850" dirty="0"/>
          </a:p>
        </p:txBody>
      </p:sp>
      <p:sp>
        <p:nvSpPr>
          <p:cNvPr id="20" name="text-14"/>
          <p:cNvSpPr txBox="1"/>
          <p:nvPr/>
        </p:nvSpPr>
        <p:spPr>
          <a:xfrm>
            <a:off x="2606040" y="3602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Google-managed · Active</a:t>
            </a:r>
            <a:endParaRPr lang="en-US" sz="1100" dirty="0"/>
          </a:p>
        </p:txBody>
      </p:sp>
      <p:sp>
        <p:nvSpPr>
          <p:cNvPr id="21" name="text-15"/>
          <p:cNvSpPr txBox="1"/>
          <p:nvPr/>
        </p:nvSpPr>
        <p:spPr>
          <a:xfrm>
            <a:off x="2606040" y="39502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chemeClr val="bg2"/>
                </a:solidFill>
              </a:rPr>
              <a:t>HTTP → HTTPS</a:t>
            </a:r>
            <a:endParaRPr lang="en-US" sz="850" dirty="0"/>
          </a:p>
        </p:txBody>
      </p:sp>
      <p:sp>
        <p:nvSpPr>
          <p:cNvPr id="22" name="text-16"/>
          <p:cNvSpPr txBox="1"/>
          <p:nvPr/>
        </p:nvSpPr>
        <p:spPr>
          <a:xfrm>
            <a:off x="2606040" y="41513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301 (FrontendConfig)</a:t>
            </a:r>
            <a:endParaRPr lang="en-US" sz="1100" dirty="0"/>
          </a:p>
        </p:txBody>
      </p:sp>
      <p:sp>
        <p:nvSpPr>
          <p:cNvPr id="23" name="text-17"/>
          <p:cNvSpPr txBox="1"/>
          <p:nvPr/>
        </p:nvSpPr>
        <p:spPr>
          <a:xfrm>
            <a:off x="2606040" y="44988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chemeClr val="bg2"/>
                </a:solidFill>
              </a:rPr>
              <a:t>HEALTH CHECKS</a:t>
            </a:r>
            <a:endParaRPr lang="en-US" sz="850" dirty="0"/>
          </a:p>
        </p:txBody>
      </p:sp>
      <p:sp>
        <p:nvSpPr>
          <p:cNvPr id="24" name="text-18"/>
          <p:cNvSpPr txBox="1"/>
          <p:nvPr/>
        </p:nvSpPr>
        <p:spPr>
          <a:xfrm>
            <a:off x="2606040" y="47000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/api/health/ready · /healthz</a:t>
            </a:r>
            <a:endParaRPr lang="en-US" sz="1100" dirty="0"/>
          </a:p>
        </p:txBody>
      </p:sp>
      <p:sp>
        <p:nvSpPr>
          <p:cNvPr id="25" name="arrow-19"/>
          <p:cNvSpPr/>
          <p:nvPr/>
        </p:nvSpPr>
        <p:spPr>
          <a:xfrm>
            <a:off x="2148840" y="2057400"/>
            <a:ext cx="27432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26" name="cluster-boundary-20"/>
          <p:cNvSpPr/>
          <p:nvPr/>
        </p:nvSpPr>
        <p:spPr>
          <a:xfrm>
            <a:off x="4754880" y="1554480"/>
            <a:ext cx="4462272" cy="3703320"/>
          </a:xfrm>
          <a:prstGeom prst="roundRect">
            <a:avLst>
              <a:gd name="adj" fmla="val 988"/>
            </a:avLst>
          </a:prstGeom>
          <a:ln w="12700">
            <a:solidFill>
              <a:schemeClr val="bg2"/>
            </a:solidFill>
            <a:prstDash val="dash"/>
          </a:ln>
        </p:spPr>
      </p:sp>
      <p:sp>
        <p:nvSpPr>
          <p:cNvPr id="27" name="text-21"/>
          <p:cNvSpPr txBox="1"/>
          <p:nvPr/>
        </p:nvSpPr>
        <p:spPr>
          <a:xfrm>
            <a:off x="4919472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GKE AUTOPILOT · GRIDPULSE-GKE · US-CENTRAL1</a:t>
            </a:r>
            <a:endParaRPr lang="en-US" sz="950" dirty="0"/>
          </a:p>
        </p:txBody>
      </p:sp>
      <p:sp>
        <p:nvSpPr>
          <p:cNvPr id="28" name="ingress-card-22"/>
          <p:cNvSpPr/>
          <p:nvPr/>
        </p:nvSpPr>
        <p:spPr>
          <a:xfrm>
            <a:off x="4937760" y="2011680"/>
            <a:ext cx="1325880" cy="306324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ngress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39696"/>
            <a:ext cx="310896" cy="310896"/>
          </a:xfrm>
          <a:prstGeom prst="rect">
            <a:avLst/>
          </a:prstGeom>
        </p:spPr>
      </p:pic>
      <p:sp>
        <p:nvSpPr>
          <p:cNvPr id="30" name="text-23"/>
          <p:cNvSpPr txBox="1"/>
          <p:nvPr/>
        </p:nvSpPr>
        <p:spPr>
          <a:xfrm>
            <a:off x="507492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Ingress</a:t>
            </a:r>
            <a:endParaRPr lang="en-US" sz="1400" dirty="0"/>
          </a:p>
        </p:txBody>
      </p:sp>
      <p:sp>
        <p:nvSpPr>
          <p:cNvPr id="31" name="text-24"/>
          <p:cNvSpPr txBox="1"/>
          <p:nvPr/>
        </p:nvSpPr>
        <p:spPr>
          <a:xfrm>
            <a:off x="507492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gridpulse</a:t>
            </a:r>
            <a:endParaRPr lang="en-US" sz="1000" dirty="0"/>
          </a:p>
        </p:txBody>
      </p:sp>
      <p:sp>
        <p:nvSpPr>
          <p:cNvPr id="32" name="text-25"/>
          <p:cNvSpPr txBox="1"/>
          <p:nvPr/>
        </p:nvSpPr>
        <p:spPr>
          <a:xfrm>
            <a:off x="5074920" y="3127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/api/*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→ backend</a:t>
            </a:r>
            <a:endParaRPr lang="en-US" sz="1100" dirty="0"/>
          </a:p>
        </p:txBody>
      </p:sp>
      <p:sp>
        <p:nvSpPr>
          <p:cNvPr id="33" name="text-26"/>
          <p:cNvSpPr txBox="1"/>
          <p:nvPr/>
        </p:nvSpPr>
        <p:spPr>
          <a:xfrm>
            <a:off x="507492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/*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→ frontend</a:t>
            </a:r>
            <a:endParaRPr lang="en-US" sz="1100" dirty="0"/>
          </a:p>
        </p:txBody>
      </p:sp>
      <p:sp>
        <p:nvSpPr>
          <p:cNvPr id="34" name="arrow-27"/>
          <p:cNvSpPr/>
          <p:nvPr/>
        </p:nvSpPr>
        <p:spPr>
          <a:xfrm>
            <a:off x="4526280" y="3520440"/>
            <a:ext cx="41148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35" name="service-card-28"/>
          <p:cNvSpPr/>
          <p:nvPr/>
        </p:nvSpPr>
        <p:spPr>
          <a:xfrm>
            <a:off x="6492240" y="201168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svc-icon-2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139696"/>
            <a:ext cx="274320" cy="274320"/>
          </a:xfrm>
          <a:prstGeom prst="rect">
            <a:avLst/>
          </a:prstGeom>
        </p:spPr>
      </p:pic>
      <p:sp>
        <p:nvSpPr>
          <p:cNvPr id="37" name="text-30"/>
          <p:cNvSpPr txBox="1"/>
          <p:nvPr/>
        </p:nvSpPr>
        <p:spPr>
          <a:xfrm>
            <a:off x="6620256" y="2468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Service</a:t>
            </a:r>
            <a:endParaRPr lang="en-US" sz="1300" dirty="0"/>
          </a:p>
        </p:txBody>
      </p:sp>
      <p:sp>
        <p:nvSpPr>
          <p:cNvPr id="38" name="text-31"/>
          <p:cNvSpPr txBox="1"/>
          <p:nvPr/>
        </p:nvSpPr>
        <p:spPr>
          <a:xfrm>
            <a:off x="6620256" y="2743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backend :8000</a:t>
            </a:r>
            <a:endParaRPr lang="en-US" sz="1050" dirty="0"/>
          </a:p>
        </p:txBody>
      </p:sp>
      <p:sp>
        <p:nvSpPr>
          <p:cNvPr id="39" name="text-32"/>
          <p:cNvSpPr txBox="1"/>
          <p:nvPr/>
        </p:nvSpPr>
        <p:spPr>
          <a:xfrm>
            <a:off x="6620256" y="2990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ClusterIP · NEG</a:t>
            </a:r>
            <a:endParaRPr lang="en-US" sz="950" dirty="0"/>
          </a:p>
        </p:txBody>
      </p:sp>
      <p:sp>
        <p:nvSpPr>
          <p:cNvPr id="40" name="pod-chip-33"/>
          <p:cNvSpPr/>
          <p:nvPr/>
        </p:nvSpPr>
        <p:spPr>
          <a:xfrm>
            <a:off x="7863840" y="2029968"/>
            <a:ext cx="1234440" cy="310896"/>
          </a:xfrm>
          <a:prstGeom prst="roundRect">
            <a:avLst>
              <a:gd name="adj" fmla="val 35294"/>
            </a:avLst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pod-icon-3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2084832"/>
            <a:ext cx="201168" cy="201168"/>
          </a:xfrm>
          <a:prstGeom prst="rect">
            <a:avLst/>
          </a:prstGeom>
        </p:spPr>
      </p:pic>
      <p:sp>
        <p:nvSpPr>
          <p:cNvPr id="42" name="text-35"/>
          <p:cNvSpPr txBox="1"/>
          <p:nvPr/>
        </p:nvSpPr>
        <p:spPr>
          <a:xfrm>
            <a:off x="8193024" y="20299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backend pod</a:t>
            </a:r>
            <a:endParaRPr lang="en-US" sz="1050" dirty="0"/>
          </a:p>
        </p:txBody>
      </p:sp>
      <p:sp>
        <p:nvSpPr>
          <p:cNvPr id="43" name="pod-chip-36"/>
          <p:cNvSpPr/>
          <p:nvPr/>
        </p:nvSpPr>
        <p:spPr>
          <a:xfrm>
            <a:off x="7863840" y="2414016"/>
            <a:ext cx="1234440" cy="310896"/>
          </a:xfrm>
          <a:prstGeom prst="roundRect">
            <a:avLst>
              <a:gd name="adj" fmla="val 35294"/>
            </a:avLst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pod-icon-3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992" y="2468880"/>
            <a:ext cx="201168" cy="201168"/>
          </a:xfrm>
          <a:prstGeom prst="rect">
            <a:avLst/>
          </a:prstGeom>
        </p:spPr>
      </p:pic>
      <p:sp>
        <p:nvSpPr>
          <p:cNvPr id="45" name="text-38"/>
          <p:cNvSpPr txBox="1"/>
          <p:nvPr/>
        </p:nvSpPr>
        <p:spPr>
          <a:xfrm>
            <a:off x="8193024" y="24140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backend pod</a:t>
            </a:r>
            <a:endParaRPr lang="en-US" sz="1050" dirty="0"/>
          </a:p>
        </p:txBody>
      </p:sp>
      <p:sp>
        <p:nvSpPr>
          <p:cNvPr id="46" name="pod-chip-hpa-39"/>
          <p:cNvSpPr/>
          <p:nvPr/>
        </p:nvSpPr>
        <p:spPr>
          <a:xfrm>
            <a:off x="7863840" y="2798064"/>
            <a:ext cx="1234440" cy="310896"/>
          </a:xfrm>
          <a:prstGeom prst="roundRect">
            <a:avLst>
              <a:gd name="adj" fmla="val 35294"/>
            </a:avLst>
          </a:prstGeom>
          <a:ln w="12700">
            <a:solidFill>
              <a:schemeClr val="bg2"/>
            </a:solidFill>
            <a:prstDash val="dash"/>
          </a:ln>
        </p:spPr>
      </p:sp>
      <p:pic>
        <p:nvPicPr>
          <p:cNvPr id="47" name="pod-icon-4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2852928"/>
            <a:ext cx="201168" cy="201168"/>
          </a:xfrm>
          <a:prstGeom prst="rect">
            <a:avLst/>
          </a:prstGeom>
        </p:spPr>
      </p:pic>
      <p:sp>
        <p:nvSpPr>
          <p:cNvPr id="48" name="text-41"/>
          <p:cNvSpPr txBox="1"/>
          <p:nvPr/>
        </p:nvSpPr>
        <p:spPr>
          <a:xfrm>
            <a:off x="8193024" y="27980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+2 under load</a:t>
            </a:r>
            <a:endParaRPr lang="en-US" sz="1000" dirty="0"/>
          </a:p>
        </p:txBody>
      </p:sp>
      <p:sp>
        <p:nvSpPr>
          <p:cNvPr id="49" name="text-42"/>
          <p:cNvSpPr txBox="1"/>
          <p:nvPr/>
        </p:nvSpPr>
        <p:spPr>
          <a:xfrm>
            <a:off x="7863840" y="3145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HPA 2–4 · 60 % CPU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PDB: ≤ 1 pod evicted</a:t>
            </a:r>
            <a:endParaRPr lang="en-US" sz="900" dirty="0"/>
          </a:p>
        </p:txBody>
      </p:sp>
      <p:sp>
        <p:nvSpPr>
          <p:cNvPr id="50" name="arrow-43"/>
          <p:cNvSpPr/>
          <p:nvPr/>
        </p:nvSpPr>
        <p:spPr>
          <a:xfrm>
            <a:off x="6263640" y="2715768"/>
            <a:ext cx="22860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51" name="arrow-44"/>
          <p:cNvSpPr/>
          <p:nvPr/>
        </p:nvSpPr>
        <p:spPr>
          <a:xfrm>
            <a:off x="7680960" y="2715768"/>
            <a:ext cx="18288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52" name="service-card-45"/>
          <p:cNvSpPr/>
          <p:nvPr/>
        </p:nvSpPr>
        <p:spPr>
          <a:xfrm>
            <a:off x="6492240" y="365760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3" name="svc-icon-4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256" y="3785616"/>
            <a:ext cx="274320" cy="274320"/>
          </a:xfrm>
          <a:prstGeom prst="rect">
            <a:avLst/>
          </a:prstGeom>
        </p:spPr>
      </p:pic>
      <p:sp>
        <p:nvSpPr>
          <p:cNvPr id="54" name="text-47"/>
          <p:cNvSpPr txBox="1"/>
          <p:nvPr/>
        </p:nvSpPr>
        <p:spPr>
          <a:xfrm>
            <a:off x="6620256" y="4114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Service</a:t>
            </a:r>
            <a:endParaRPr lang="en-US" sz="1300" dirty="0"/>
          </a:p>
        </p:txBody>
      </p:sp>
      <p:sp>
        <p:nvSpPr>
          <p:cNvPr id="55" name="text-48"/>
          <p:cNvSpPr txBox="1"/>
          <p:nvPr/>
        </p:nvSpPr>
        <p:spPr>
          <a:xfrm>
            <a:off x="6620256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frontend :80</a:t>
            </a:r>
            <a:endParaRPr lang="en-US" sz="1050" dirty="0"/>
          </a:p>
        </p:txBody>
      </p:sp>
      <p:sp>
        <p:nvSpPr>
          <p:cNvPr id="56" name="text-49"/>
          <p:cNvSpPr txBox="1"/>
          <p:nvPr/>
        </p:nvSpPr>
        <p:spPr>
          <a:xfrm>
            <a:off x="6620256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ClusterIP · NEG</a:t>
            </a:r>
            <a:endParaRPr lang="en-US" sz="950" dirty="0"/>
          </a:p>
        </p:txBody>
      </p:sp>
      <p:sp>
        <p:nvSpPr>
          <p:cNvPr id="57" name="pod-chip-50"/>
          <p:cNvSpPr/>
          <p:nvPr/>
        </p:nvSpPr>
        <p:spPr>
          <a:xfrm>
            <a:off x="7863840" y="3675888"/>
            <a:ext cx="1234440" cy="310896"/>
          </a:xfrm>
          <a:prstGeom prst="roundRect">
            <a:avLst>
              <a:gd name="adj" fmla="val 35294"/>
            </a:avLst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8" name="pod-icon-5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6992" y="3730752"/>
            <a:ext cx="201168" cy="201168"/>
          </a:xfrm>
          <a:prstGeom prst="rect">
            <a:avLst/>
          </a:prstGeom>
        </p:spPr>
      </p:pic>
      <p:sp>
        <p:nvSpPr>
          <p:cNvPr id="59" name="text-52"/>
          <p:cNvSpPr txBox="1"/>
          <p:nvPr/>
        </p:nvSpPr>
        <p:spPr>
          <a:xfrm>
            <a:off x="8193024" y="3675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frontend pod</a:t>
            </a:r>
            <a:endParaRPr lang="en-US" sz="1050" dirty="0"/>
          </a:p>
        </p:txBody>
      </p:sp>
      <p:sp>
        <p:nvSpPr>
          <p:cNvPr id="60" name="pod-chip-53"/>
          <p:cNvSpPr/>
          <p:nvPr/>
        </p:nvSpPr>
        <p:spPr>
          <a:xfrm>
            <a:off x="7863840" y="4059936"/>
            <a:ext cx="1234440" cy="310896"/>
          </a:xfrm>
          <a:prstGeom prst="roundRect">
            <a:avLst>
              <a:gd name="adj" fmla="val 35294"/>
            </a:avLst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1" name="pod-icon-54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6992" y="4114800"/>
            <a:ext cx="201168" cy="201168"/>
          </a:xfrm>
          <a:prstGeom prst="rect">
            <a:avLst/>
          </a:prstGeom>
        </p:spPr>
      </p:pic>
      <p:sp>
        <p:nvSpPr>
          <p:cNvPr id="62" name="text-55"/>
          <p:cNvSpPr txBox="1"/>
          <p:nvPr/>
        </p:nvSpPr>
        <p:spPr>
          <a:xfrm>
            <a:off x="8193024" y="40599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frontend pod</a:t>
            </a:r>
            <a:endParaRPr lang="en-US" sz="1050" dirty="0"/>
          </a:p>
        </p:txBody>
      </p:sp>
      <p:sp>
        <p:nvSpPr>
          <p:cNvPr id="63" name="pod-chip-hpa-56"/>
          <p:cNvSpPr/>
          <p:nvPr/>
        </p:nvSpPr>
        <p:spPr>
          <a:xfrm>
            <a:off x="7863840" y="4443984"/>
            <a:ext cx="1234440" cy="310896"/>
          </a:xfrm>
          <a:prstGeom prst="roundRect">
            <a:avLst>
              <a:gd name="adj" fmla="val 35294"/>
            </a:avLst>
          </a:prstGeom>
          <a:ln w="12700">
            <a:solidFill>
              <a:schemeClr val="bg2"/>
            </a:solidFill>
            <a:prstDash val="dash"/>
          </a:ln>
        </p:spPr>
      </p:sp>
      <p:pic>
        <p:nvPicPr>
          <p:cNvPr id="64" name="pod-icon-5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6992" y="4498848"/>
            <a:ext cx="201168" cy="201168"/>
          </a:xfrm>
          <a:prstGeom prst="rect">
            <a:avLst/>
          </a:prstGeom>
        </p:spPr>
      </p:pic>
      <p:sp>
        <p:nvSpPr>
          <p:cNvPr id="65" name="text-58"/>
          <p:cNvSpPr txBox="1"/>
          <p:nvPr/>
        </p:nvSpPr>
        <p:spPr>
          <a:xfrm>
            <a:off x="8193024" y="44439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+2 under load</a:t>
            </a:r>
            <a:endParaRPr lang="en-US" sz="1000" dirty="0"/>
          </a:p>
        </p:txBody>
      </p:sp>
      <p:sp>
        <p:nvSpPr>
          <p:cNvPr id="66" name="text-59"/>
          <p:cNvSpPr txBox="1"/>
          <p:nvPr/>
        </p:nvSpPr>
        <p:spPr>
          <a:xfrm>
            <a:off x="7863840" y="4791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HPA 2–4 · 70 % CPU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PDB: ≤ 1 pod evicted</a:t>
            </a:r>
            <a:endParaRPr lang="en-US" sz="900" dirty="0"/>
          </a:p>
        </p:txBody>
      </p:sp>
      <p:sp>
        <p:nvSpPr>
          <p:cNvPr id="67" name="arrow-60"/>
          <p:cNvSpPr/>
          <p:nvPr/>
        </p:nvSpPr>
        <p:spPr>
          <a:xfrm>
            <a:off x="6263640" y="4361688"/>
            <a:ext cx="22860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68" name="arrow-61"/>
          <p:cNvSpPr/>
          <p:nvPr/>
        </p:nvSpPr>
        <p:spPr>
          <a:xfrm>
            <a:off x="7680960" y="4361688"/>
            <a:ext cx="18288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69" name="text-62"/>
          <p:cNvSpPr txBox="1"/>
          <p:nvPr/>
        </p:nvSpPr>
        <p:spPr>
          <a:xfrm>
            <a:off x="9509760" y="16459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GOOGLE-MANAGED STATE</a:t>
            </a:r>
            <a:endParaRPr lang="en-US" sz="950" dirty="0"/>
          </a:p>
        </p:txBody>
      </p:sp>
      <p:sp>
        <p:nvSpPr>
          <p:cNvPr id="70" name="managed-card-63"/>
          <p:cNvSpPr/>
          <p:nvPr/>
        </p:nvSpPr>
        <p:spPr>
          <a:xfrm>
            <a:off x="9509760" y="1920240"/>
            <a:ext cx="2130552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1" name="managed-icon-64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6920" y="2048256"/>
            <a:ext cx="292608" cy="292608"/>
          </a:xfrm>
          <a:prstGeom prst="rect">
            <a:avLst/>
          </a:prstGeom>
        </p:spPr>
      </p:pic>
      <p:sp>
        <p:nvSpPr>
          <p:cNvPr id="72" name="text-65"/>
          <p:cNvSpPr txBox="1"/>
          <p:nvPr/>
        </p:nvSpPr>
        <p:spPr>
          <a:xfrm>
            <a:off x="10030968" y="20299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Cloud SQL</a:t>
            </a:r>
            <a:endParaRPr lang="en-US" sz="1300" dirty="0"/>
          </a:p>
        </p:txBody>
      </p:sp>
      <p:sp>
        <p:nvSpPr>
          <p:cNvPr id="73" name="text-66"/>
          <p:cNvSpPr txBox="1"/>
          <p:nvPr/>
        </p:nvSpPr>
        <p:spPr>
          <a:xfrm>
            <a:off x="9646920" y="239572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PostgreSQL 16 · private IP 10.60.0.3 · TLS</a:t>
            </a:r>
            <a:endParaRPr lang="en-US" sz="950" dirty="0"/>
          </a:p>
        </p:txBody>
      </p:sp>
      <p:sp>
        <p:nvSpPr>
          <p:cNvPr id="74" name="arrow-67"/>
          <p:cNvSpPr/>
          <p:nvPr/>
        </p:nvSpPr>
        <p:spPr>
          <a:xfrm>
            <a:off x="9345168" y="2359152"/>
            <a:ext cx="164592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75" name="managed-card-68"/>
          <p:cNvSpPr/>
          <p:nvPr/>
        </p:nvSpPr>
        <p:spPr>
          <a:xfrm>
            <a:off x="9509760" y="2944368"/>
            <a:ext cx="2130552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6" name="managed-icon-6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6920" y="3072384"/>
            <a:ext cx="292608" cy="292608"/>
          </a:xfrm>
          <a:prstGeom prst="rect">
            <a:avLst/>
          </a:prstGeom>
        </p:spPr>
      </p:pic>
      <p:sp>
        <p:nvSpPr>
          <p:cNvPr id="77" name="text-70"/>
          <p:cNvSpPr txBox="1"/>
          <p:nvPr/>
        </p:nvSpPr>
        <p:spPr>
          <a:xfrm>
            <a:off x="10030968" y="30540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Cloud Storage</a:t>
            </a:r>
            <a:endParaRPr lang="en-US" sz="1300" dirty="0"/>
          </a:p>
        </p:txBody>
      </p:sp>
      <p:sp>
        <p:nvSpPr>
          <p:cNvPr id="78" name="text-71"/>
          <p:cNvSpPr txBox="1"/>
          <p:nvPr/>
        </p:nvSpPr>
        <p:spPr>
          <a:xfrm>
            <a:off x="9646920" y="341985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gridpulse-509202-uploads (PDFs)</a:t>
            </a:r>
            <a:endParaRPr lang="en-US" sz="950" dirty="0"/>
          </a:p>
        </p:txBody>
      </p:sp>
      <p:sp>
        <p:nvSpPr>
          <p:cNvPr id="79" name="arrow-72"/>
          <p:cNvSpPr/>
          <p:nvPr/>
        </p:nvSpPr>
        <p:spPr>
          <a:xfrm>
            <a:off x="9345168" y="3383280"/>
            <a:ext cx="164592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80" name="managed-card-73"/>
          <p:cNvSpPr/>
          <p:nvPr/>
        </p:nvSpPr>
        <p:spPr>
          <a:xfrm>
            <a:off x="9509760" y="3968496"/>
            <a:ext cx="2130552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1" name="managed-icon-7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6920" y="4096512"/>
            <a:ext cx="292608" cy="292608"/>
          </a:xfrm>
          <a:prstGeom prst="rect">
            <a:avLst/>
          </a:prstGeom>
        </p:spPr>
      </p:pic>
      <p:sp>
        <p:nvSpPr>
          <p:cNvPr id="82" name="text-75"/>
          <p:cNvSpPr txBox="1"/>
          <p:nvPr/>
        </p:nvSpPr>
        <p:spPr>
          <a:xfrm>
            <a:off x="10030968" y="40782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Secret Manager</a:t>
            </a:r>
            <a:endParaRPr lang="en-US" sz="1300" dirty="0"/>
          </a:p>
        </p:txBody>
      </p:sp>
      <p:sp>
        <p:nvSpPr>
          <p:cNvPr id="83" name="text-76"/>
          <p:cNvSpPr txBox="1"/>
          <p:nvPr/>
        </p:nvSpPr>
        <p:spPr>
          <a:xfrm>
            <a:off x="9646920" y="444398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gridpulse-db-password</a:t>
            </a:r>
            <a:endParaRPr lang="en-US" sz="950" dirty="0"/>
          </a:p>
        </p:txBody>
      </p:sp>
      <p:sp>
        <p:nvSpPr>
          <p:cNvPr id="84" name="arrow-77"/>
          <p:cNvSpPr/>
          <p:nvPr/>
        </p:nvSpPr>
        <p:spPr>
          <a:xfrm>
            <a:off x="9345168" y="4407408"/>
            <a:ext cx="164592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85" name="arrow-78"/>
          <p:cNvSpPr/>
          <p:nvPr/>
        </p:nvSpPr>
        <p:spPr>
          <a:xfrm>
            <a:off x="9098280" y="2569464"/>
            <a:ext cx="246888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86" name="arrow-79"/>
          <p:cNvSpPr/>
          <p:nvPr/>
        </p:nvSpPr>
        <p:spPr>
          <a:xfrm>
            <a:off x="9345168" y="2359152"/>
            <a:ext cx="0" cy="2048256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87" name="text-80"/>
          <p:cNvSpPr txBox="1"/>
          <p:nvPr/>
        </p:nvSpPr>
        <p:spPr>
          <a:xfrm>
            <a:off x="9509760" y="495604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backend pods act as gridpulse-gke-app via Workload Identity · 0 keys</a:t>
            </a:r>
            <a:endParaRPr lang="en-US" sz="900" dirty="0"/>
          </a:p>
        </p:txBody>
      </p:sp>
      <p:sp>
        <p:nvSpPr>
          <p:cNvPr id="88" name="fact-card-81"/>
          <p:cNvSpPr/>
          <p:nvPr/>
        </p:nvSpPr>
        <p:spPr>
          <a:xfrm>
            <a:off x="548640" y="5486400"/>
            <a:ext cx="2642616" cy="896112"/>
          </a:xfrm>
          <a:prstGeom prst="roundRect">
            <a:avLst>
              <a:gd name="adj" fmla="val 816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9" name="fact-icon-82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944" y="5614416"/>
            <a:ext cx="274320" cy="274320"/>
          </a:xfrm>
          <a:prstGeom prst="rect">
            <a:avLst/>
          </a:prstGeom>
        </p:spPr>
      </p:pic>
      <p:sp>
        <p:nvSpPr>
          <p:cNvPr id="90" name="text-83"/>
          <p:cNvSpPr txBox="1"/>
          <p:nvPr/>
        </p:nvSpPr>
        <p:spPr>
          <a:xfrm>
            <a:off x="1060704" y="5596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Self-healing</a:t>
            </a:r>
            <a:endParaRPr lang="en-US" sz="1300" dirty="0"/>
          </a:p>
        </p:txBody>
      </p:sp>
      <p:sp>
        <p:nvSpPr>
          <p:cNvPr id="91" name="text-84"/>
          <p:cNvSpPr txBox="1"/>
          <p:nvPr/>
        </p:nvSpPr>
        <p:spPr>
          <a:xfrm>
            <a:off x="694944" y="5943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The Deployment keeps 2+ Ready pods; a deleted or crashed pod is replaced in seconds.</a:t>
            </a:r>
            <a:endParaRPr lang="en-US" sz="1000" dirty="0"/>
          </a:p>
        </p:txBody>
      </p:sp>
      <p:sp>
        <p:nvSpPr>
          <p:cNvPr id="92" name="fact-card-85"/>
          <p:cNvSpPr/>
          <p:nvPr/>
        </p:nvSpPr>
        <p:spPr>
          <a:xfrm>
            <a:off x="3364992" y="5486400"/>
            <a:ext cx="2642616" cy="896112"/>
          </a:xfrm>
          <a:prstGeom prst="roundRect">
            <a:avLst>
              <a:gd name="adj" fmla="val 816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3" name="fact-icon-8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11296" y="5614416"/>
            <a:ext cx="274320" cy="274320"/>
          </a:xfrm>
          <a:prstGeom prst="rect">
            <a:avLst/>
          </a:prstGeom>
        </p:spPr>
      </p:pic>
      <p:sp>
        <p:nvSpPr>
          <p:cNvPr id="94" name="text-87"/>
          <p:cNvSpPr txBox="1"/>
          <p:nvPr/>
        </p:nvSpPr>
        <p:spPr>
          <a:xfrm>
            <a:off x="3877056" y="5596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Autoscaling</a:t>
            </a:r>
            <a:endParaRPr lang="en-US" sz="1300" dirty="0"/>
          </a:p>
        </p:txBody>
      </p:sp>
      <p:sp>
        <p:nvSpPr>
          <p:cNvPr id="95" name="text-88"/>
          <p:cNvSpPr txBox="1"/>
          <p:nvPr/>
        </p:nvSpPr>
        <p:spPr>
          <a:xfrm>
            <a:off x="3511296" y="5943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The HPA adds backend pods (2 → 4) when CPU passes 60 % of the request.</a:t>
            </a:r>
            <a:endParaRPr lang="en-US" sz="1000" dirty="0"/>
          </a:p>
        </p:txBody>
      </p:sp>
      <p:sp>
        <p:nvSpPr>
          <p:cNvPr id="96" name="fact-card-89"/>
          <p:cNvSpPr/>
          <p:nvPr/>
        </p:nvSpPr>
        <p:spPr>
          <a:xfrm>
            <a:off x="6181344" y="5486400"/>
            <a:ext cx="2642616" cy="896112"/>
          </a:xfrm>
          <a:prstGeom prst="roundRect">
            <a:avLst>
              <a:gd name="adj" fmla="val 816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7" name="fact-icon-90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5614416"/>
            <a:ext cx="274320" cy="274320"/>
          </a:xfrm>
          <a:prstGeom prst="rect">
            <a:avLst/>
          </a:prstGeom>
        </p:spPr>
      </p:pic>
      <p:sp>
        <p:nvSpPr>
          <p:cNvPr id="98" name="text-91"/>
          <p:cNvSpPr txBox="1"/>
          <p:nvPr/>
        </p:nvSpPr>
        <p:spPr>
          <a:xfrm>
            <a:off x="6693408" y="5596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Disruption budget</a:t>
            </a:r>
            <a:endParaRPr lang="en-US" sz="1300" dirty="0"/>
          </a:p>
        </p:txBody>
      </p:sp>
      <p:sp>
        <p:nvSpPr>
          <p:cNvPr id="99" name="text-92"/>
          <p:cNvSpPr txBox="1"/>
          <p:nvPr/>
        </p:nvSpPr>
        <p:spPr>
          <a:xfrm>
            <a:off x="6327648" y="5943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Upgrades and node moves may evict only one pod of each app at a time.</a:t>
            </a:r>
            <a:endParaRPr lang="en-US" sz="1000" dirty="0"/>
          </a:p>
        </p:txBody>
      </p:sp>
      <p:sp>
        <p:nvSpPr>
          <p:cNvPr id="100" name="fact-card-93"/>
          <p:cNvSpPr/>
          <p:nvPr/>
        </p:nvSpPr>
        <p:spPr>
          <a:xfrm>
            <a:off x="8997696" y="5486400"/>
            <a:ext cx="2642616" cy="896112"/>
          </a:xfrm>
          <a:prstGeom prst="roundRect">
            <a:avLst>
              <a:gd name="adj" fmla="val 816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1" name="fact-icon-94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44000" y="5614416"/>
            <a:ext cx="274320" cy="274320"/>
          </a:xfrm>
          <a:prstGeom prst="rect">
            <a:avLst/>
          </a:prstGeom>
        </p:spPr>
      </p:pic>
      <p:sp>
        <p:nvSpPr>
          <p:cNvPr id="102" name="text-95"/>
          <p:cNvSpPr txBox="1"/>
          <p:nvPr/>
        </p:nvSpPr>
        <p:spPr>
          <a:xfrm>
            <a:off x="9509760" y="5596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HTTPS only</a:t>
            </a:r>
            <a:endParaRPr lang="en-US" sz="1300" dirty="0"/>
          </a:p>
        </p:txBody>
      </p:sp>
      <p:sp>
        <p:nvSpPr>
          <p:cNvPr id="103" name="text-96"/>
          <p:cNvSpPr txBox="1"/>
          <p:nvPr/>
        </p:nvSpPr>
        <p:spPr>
          <a:xfrm>
            <a:off x="9144000" y="5943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Managed certificate on a real hostname; plain http:// gets a 301 to https://.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Health probe design: alive is not the same as ready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backend has two probe endpoints. They test different things, and Kubernetes reacts differently when each one fails.</a:t>
            </a:r>
            <a:endParaRPr lang="en-US" sz="1400" dirty="0"/>
          </a:p>
        </p:txBody>
      </p:sp>
      <p:sp>
        <p:nvSpPr>
          <p:cNvPr id="4" name="probe-card-97"/>
          <p:cNvSpPr/>
          <p:nvPr/>
        </p:nvSpPr>
        <p:spPr>
          <a:xfrm>
            <a:off x="548640" y="1554480"/>
            <a:ext cx="5449824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probe-icon-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384048" cy="384048"/>
          </a:xfrm>
          <a:prstGeom prst="rect">
            <a:avLst/>
          </a:prstGeom>
        </p:spPr>
      </p:pic>
      <p:sp>
        <p:nvSpPr>
          <p:cNvPr id="6" name="text-99"/>
          <p:cNvSpPr txBox="1"/>
          <p:nvPr/>
        </p:nvSpPr>
        <p:spPr>
          <a:xfrm>
            <a:off x="1280160" y="17190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Liveness   </a:t>
            </a:r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/api/health/live</a:t>
            </a:r>
            <a:endParaRPr lang="en-US" sz="1200" dirty="0"/>
          </a:p>
        </p:txBody>
      </p:sp>
      <p:sp>
        <p:nvSpPr>
          <p:cNvPr id="7" name="text-100"/>
          <p:cNvSpPr txBox="1"/>
          <p:nvPr/>
        </p:nvSpPr>
        <p:spPr>
          <a:xfrm>
            <a:off x="777240" y="22860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WHAT IT CHECKS</a:t>
            </a:r>
            <a:endParaRPr lang="en-US" sz="950" dirty="0"/>
          </a:p>
        </p:txBody>
      </p:sp>
      <p:sp>
        <p:nvSpPr>
          <p:cNvPr id="8" name="text-101"/>
          <p:cNvSpPr txBox="1"/>
          <p:nvPr/>
        </p:nvSpPr>
        <p:spPr>
          <a:xfrm>
            <a:off x="777240" y="25237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process answers from its own event loop. No database, no Google APIs, no disk.</a:t>
            </a:r>
            <a:endParaRPr lang="en-US" sz="1300" dirty="0"/>
          </a:p>
        </p:txBody>
      </p:sp>
      <p:sp>
        <p:nvSpPr>
          <p:cNvPr id="9" name="text-102"/>
          <p:cNvSpPr txBox="1"/>
          <p:nvPr/>
        </p:nvSpPr>
        <p:spPr>
          <a:xfrm>
            <a:off x="777240" y="30723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WHEN IT FAILS</a:t>
            </a:r>
            <a:endParaRPr lang="en-US" sz="950" dirty="0"/>
          </a:p>
        </p:txBody>
      </p:sp>
      <p:sp>
        <p:nvSpPr>
          <p:cNvPr id="10" name="text-103"/>
          <p:cNvSpPr txBox="1"/>
          <p:nvPr/>
        </p:nvSpPr>
        <p:spPr>
          <a:xfrm>
            <a:off x="777240" y="3310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Kubernetes restarts the container</a:t>
            </a:r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: the fix for a deadlock or a stuck event loop, and for nothing else.</a:t>
            </a:r>
            <a:endParaRPr lang="en-US" sz="1300" dirty="0"/>
          </a:p>
        </p:txBody>
      </p:sp>
      <p:sp>
        <p:nvSpPr>
          <p:cNvPr id="11" name="text-104"/>
          <p:cNvSpPr txBox="1"/>
          <p:nvPr/>
        </p:nvSpPr>
        <p:spPr>
          <a:xfrm>
            <a:off x="777240" y="3858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every 10 s · 5 s timeout · restarted only after 6 misses (~1 min)</a:t>
            </a:r>
            <a:endParaRPr lang="en-US" sz="1050" dirty="0"/>
          </a:p>
        </p:txBody>
      </p:sp>
      <p:sp>
        <p:nvSpPr>
          <p:cNvPr id="12" name="probe-card-105"/>
          <p:cNvSpPr/>
          <p:nvPr/>
        </p:nvSpPr>
        <p:spPr>
          <a:xfrm>
            <a:off x="6190488" y="1554480"/>
            <a:ext cx="5449824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robe-icon-1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737360"/>
            <a:ext cx="384048" cy="384048"/>
          </a:xfrm>
          <a:prstGeom prst="rect">
            <a:avLst/>
          </a:prstGeom>
        </p:spPr>
      </p:pic>
      <p:sp>
        <p:nvSpPr>
          <p:cNvPr id="14" name="text-107"/>
          <p:cNvSpPr txBox="1"/>
          <p:nvPr/>
        </p:nvSpPr>
        <p:spPr>
          <a:xfrm>
            <a:off x="6922008" y="17190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Readiness   </a:t>
            </a:r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/api/health/ready</a:t>
            </a:r>
            <a:endParaRPr lang="en-US" sz="1200" dirty="0"/>
          </a:p>
        </p:txBody>
      </p:sp>
      <p:sp>
        <p:nvSpPr>
          <p:cNvPr id="15" name="text-108"/>
          <p:cNvSpPr txBox="1"/>
          <p:nvPr/>
        </p:nvSpPr>
        <p:spPr>
          <a:xfrm>
            <a:off x="6419088" y="22860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WHAT IT CHECKS</a:t>
            </a:r>
            <a:endParaRPr lang="en-US" sz="950" dirty="0"/>
          </a:p>
        </p:txBody>
      </p:sp>
      <p:sp>
        <p:nvSpPr>
          <p:cNvPr id="16" name="text-109"/>
          <p:cNvSpPr txBox="1"/>
          <p:nvPr/>
        </p:nvSpPr>
        <p:spPr>
          <a:xfrm>
            <a:off x="6419088" y="25237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Everything liveness checks, plus SELECT 1 on Cloud SQL over the private IP with TLS, on its own one-connection pool, with a 2 s limit.</a:t>
            </a:r>
            <a:endParaRPr lang="en-US" sz="1300" dirty="0"/>
          </a:p>
        </p:txBody>
      </p:sp>
      <p:sp>
        <p:nvSpPr>
          <p:cNvPr id="17" name="text-110"/>
          <p:cNvSpPr txBox="1"/>
          <p:nvPr/>
        </p:nvSpPr>
        <p:spPr>
          <a:xfrm>
            <a:off x="6419088" y="30723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WHEN IT FAILS</a:t>
            </a:r>
            <a:endParaRPr lang="en-US" sz="950" dirty="0"/>
          </a:p>
        </p:txBody>
      </p:sp>
      <p:sp>
        <p:nvSpPr>
          <p:cNvPr id="18" name="text-111"/>
          <p:cNvSpPr txBox="1"/>
          <p:nvPr/>
        </p:nvSpPr>
        <p:spPr>
          <a:xfrm>
            <a:off x="6419088" y="3310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pod leaves the Service and the load balancer</a:t>
            </a:r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. It is not restarted, and it rejoins by itself once the database answers.</a:t>
            </a:r>
            <a:endParaRPr lang="en-US" sz="1300" dirty="0"/>
          </a:p>
        </p:txBody>
      </p:sp>
      <p:sp>
        <p:nvSpPr>
          <p:cNvPr id="19" name="text-112"/>
          <p:cNvSpPr txBox="1"/>
          <p:nvPr/>
        </p:nvSpPr>
        <p:spPr>
          <a:xfrm>
            <a:off x="6419088" y="3858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every 5 s · 5 s timeout · out after 3 misses (~15 s) · the LB health check uses this path too</a:t>
            </a:r>
            <a:endParaRPr lang="en-US" sz="1050" dirty="0"/>
          </a:p>
        </p:txBody>
      </p:sp>
      <p:sp>
        <p:nvSpPr>
          <p:cNvPr id="20" name="startup-strip-113"/>
          <p:cNvSpPr/>
          <p:nvPr/>
        </p:nvSpPr>
        <p:spPr>
          <a:xfrm>
            <a:off x="548640" y="434340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startup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53128"/>
            <a:ext cx="274320" cy="274320"/>
          </a:xfrm>
          <a:prstGeom prst="rect">
            <a:avLst/>
          </a:prstGeom>
        </p:spPr>
      </p:pic>
      <p:sp>
        <p:nvSpPr>
          <p:cNvPr id="22" name="text-114"/>
          <p:cNvSpPr txBox="1"/>
          <p:nvPr/>
        </p:nvSpPr>
        <p:spPr>
          <a:xfrm>
            <a:off x="1143000" y="434340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Startup probe </a:t>
            </a:r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uses the same /live path but allows up to 3 min, so a booting pod (secret read, migration check, loading pandas and XGBoost) is never restarted.</a:t>
            </a:r>
            <a:endParaRPr lang="en-US" sz="1200" dirty="0"/>
          </a:p>
        </p:txBody>
      </p:sp>
      <p:sp>
        <p:nvSpPr>
          <p:cNvPr id="23" name="text-115"/>
          <p:cNvSpPr txBox="1"/>
          <p:nvPr/>
        </p:nvSpPr>
        <p:spPr>
          <a:xfrm>
            <a:off x="548640" y="501091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chemeClr val="bg2"/>
                </a:solidFill>
              </a:rPr>
              <a:t>WHY THEY MUST DIFFER: A 30-SECOND CLOUD SQL MAINTENANCE BLIP</a:t>
            </a:r>
            <a:endParaRPr lang="en-US" sz="950" dirty="0"/>
          </a:p>
        </p:txBody>
      </p:sp>
      <p:sp>
        <p:nvSpPr>
          <p:cNvPr id="24" name="outcome-card-116"/>
          <p:cNvSpPr/>
          <p:nvPr/>
        </p:nvSpPr>
        <p:spPr>
          <a:xfrm>
            <a:off x="548640" y="5303520"/>
            <a:ext cx="5449824" cy="1078992"/>
          </a:xfrm>
          <a:prstGeom prst="roundRect">
            <a:avLst>
              <a:gd name="adj" fmla="val 678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outcome-icon-1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31536"/>
            <a:ext cx="292608" cy="292608"/>
          </a:xfrm>
          <a:prstGeom prst="rect">
            <a:avLst/>
          </a:prstGeom>
        </p:spPr>
      </p:pic>
      <p:sp>
        <p:nvSpPr>
          <p:cNvPr id="26" name="text-118"/>
          <p:cNvSpPr txBox="1"/>
          <p:nvPr/>
        </p:nvSpPr>
        <p:spPr>
          <a:xfrm>
            <a:off x="1143000" y="54132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If liveness also checked the database</a:t>
            </a:r>
            <a:endParaRPr lang="en-US" sz="1300" dirty="0"/>
          </a:p>
        </p:txBody>
      </p:sp>
      <p:sp>
        <p:nvSpPr>
          <p:cNvPr id="27" name="text-119"/>
          <p:cNvSpPr txBox="1"/>
          <p:nvPr/>
        </p:nvSpPr>
        <p:spPr>
          <a:xfrm>
            <a:off x="731520" y="57607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Every replica fails at the same moment and all of them restart together. Each restart re-reads Secret Manager, re-runs the migration check and starts cold, so 30 s of database trouble turns into minutes of 502s.</a:t>
            </a:r>
            <a:endParaRPr lang="en-US" sz="1050" dirty="0"/>
          </a:p>
        </p:txBody>
      </p:sp>
      <p:sp>
        <p:nvSpPr>
          <p:cNvPr id="28" name="outcome-card-120"/>
          <p:cNvSpPr/>
          <p:nvPr/>
        </p:nvSpPr>
        <p:spPr>
          <a:xfrm>
            <a:off x="6190488" y="5303520"/>
            <a:ext cx="5449824" cy="1078992"/>
          </a:xfrm>
          <a:prstGeom prst="roundRect">
            <a:avLst>
              <a:gd name="adj" fmla="val 678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outcome-icon-1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5431536"/>
            <a:ext cx="292608" cy="292608"/>
          </a:xfrm>
          <a:prstGeom prst="rect">
            <a:avLst/>
          </a:prstGeom>
        </p:spPr>
      </p:pic>
      <p:sp>
        <p:nvSpPr>
          <p:cNvPr id="30" name="text-122"/>
          <p:cNvSpPr txBox="1"/>
          <p:nvPr/>
        </p:nvSpPr>
        <p:spPr>
          <a:xfrm>
            <a:off x="6784848" y="54132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With the split we deployed</a:t>
            </a:r>
            <a:endParaRPr lang="en-US" sz="1300" dirty="0"/>
          </a:p>
        </p:txBody>
      </p:sp>
      <p:sp>
        <p:nvSpPr>
          <p:cNvPr id="31" name="text-123"/>
          <p:cNvSpPr txBox="1"/>
          <p:nvPr/>
        </p:nvSpPr>
        <p:spPr>
          <a:xfrm>
            <a:off x="6373368" y="57607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Readiness fails, so the pods leave the load balancer. Liveness stays green, so nothing restarts. When SELECT 1 works again the same warm pods are back in rotation within about 5 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Pulse Night">
  <a:themeElements>
    <a:clrScheme name="GridPulse Night">
      <a:dk1>
        <a:srgbClr val="0C1420"/>
      </a:dk1>
      <a:lt1>
        <a:srgbClr val="EAF1F7"/>
      </a:lt1>
      <a:dk2>
        <a:srgbClr val="121D2E"/>
      </a:dk2>
      <a:lt2>
        <a:srgbClr val="8EA0B8"/>
      </a:lt2>
      <a:accent1>
        <a:srgbClr val="4FD1C5"/>
      </a:accent1>
      <a:accent2>
        <a:srgbClr val="FFB454"/>
      </a:accent2>
      <a:accent3>
        <a:srgbClr val="24374F"/>
      </a:accent3>
      <a:accent4>
        <a:srgbClr val="1A2A40"/>
      </a:accent4>
      <a:accent5>
        <a:srgbClr val="F27C6B"/>
      </a:accent5>
      <a:accent6>
        <a:srgbClr val="9BE7DF"/>
      </a:accent6>
      <a:hlink>
        <a:srgbClr val="4FD1C5"/>
      </a:hlink>
      <a:folHlink>
        <a:srgbClr val="9BE7DF"/>
      </a:folHlink>
    </a:clrScheme>
    <a:fontScheme name="GridPulse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GridPulse - Milestone 5</dc:title>
  <dc:subject>PptxGenJS Presentation</dc:subject>
  <dc:creator>GridPulse team</dc:creator>
  <cp:lastModifiedBy>GridPulse team</cp:lastModifiedBy>
  <cp:revision>1</cp:revision>
  <dcterms:created xsi:type="dcterms:W3CDTF">2026-10-20T15:31:04Z</dcterms:created>
  <dcterms:modified xsi:type="dcterms:W3CDTF">2026-10-20T15:31:04Z</dcterms:modified>
</cp:coreProperties>
</file>