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Historical</c:v>
                </c:pt>
              </c:strCache>
            </c:strRef>
          </c:tx>
          <c:spPr>
            <a:solidFill>
              <a:srgbClr val="4FD1C5"/>
            </a:solidFill>
            <a:ln w="31750" cap="flat">
              <a:solidFill>
                <a:srgbClr val="4FD1C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4FD1C5"/>
              </a:solidFill>
              <a:ln w="9525" cap="flat">
                <a:solidFill>
                  <a:srgbClr val="4FD1C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0:00</c:v>
                  </c:pt>
                  <c:pt idx="1">
                    <c:v>2:00</c:v>
                  </c:pt>
                  <c:pt idx="2">
                    <c:v>4:00</c:v>
                  </c:pt>
                  <c:pt idx="3">
                    <c:v>6:00</c:v>
                  </c:pt>
                  <c:pt idx="4">
                    <c:v>8:00</c:v>
                  </c:pt>
                  <c:pt idx="5">
                    <c:v>10:00</c:v>
                  </c:pt>
                  <c:pt idx="6">
                    <c:v>12:00</c:v>
                  </c:pt>
                  <c:pt idx="7">
                    <c:v>14:00</c:v>
                  </c:pt>
                  <c:pt idx="8">
                    <c:v>16:00</c:v>
                  </c:pt>
                  <c:pt idx="9">
                    <c:v>18:00</c:v>
                  </c:pt>
                  <c:pt idx="10">
                    <c:v>20:00</c:v>
                  </c:pt>
                  <c:pt idx="11">
                    <c:v>22:00</c:v>
                  </c:pt>
                  <c:pt idx="12">
                    <c:v>24:00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640</c:v>
                </c:pt>
                <c:pt idx="1">
                  <c:v>610</c:v>
                </c:pt>
                <c:pt idx="2">
                  <c:v>590</c:v>
                </c:pt>
                <c:pt idx="3">
                  <c:v>650</c:v>
                </c:pt>
                <c:pt idx="4">
                  <c:v>780</c:v>
                </c:pt>
                <c:pt idx="5">
                  <c:v>900</c:v>
                </c:pt>
                <c:pt idx="6">
                  <c:v>980</c:v>
                </c:pt>
                <c:pt idx="7">
                  <c:v>1040</c:v>
                </c:pt>
                <c:pt idx="8">
                  <c:v>1120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</c:v>
                </c:pt>
              </c:strCache>
            </c:strRef>
          </c:tx>
          <c:spPr>
            <a:solidFill>
              <a:srgbClr val="FFB454"/>
            </a:solidFill>
            <a:ln w="31750" cap="flat">
              <a:solidFill>
                <a:srgbClr val="FFB45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FB454"/>
              </a:solidFill>
              <a:ln w="9525" cap="flat">
                <a:solidFill>
                  <a:srgbClr val="FFB45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0:00</c:v>
                  </c:pt>
                  <c:pt idx="1">
                    <c:v>2:00</c:v>
                  </c:pt>
                  <c:pt idx="2">
                    <c:v>4:00</c:v>
                  </c:pt>
                  <c:pt idx="3">
                    <c:v>6:00</c:v>
                  </c:pt>
                  <c:pt idx="4">
                    <c:v>8:00</c:v>
                  </c:pt>
                  <c:pt idx="5">
                    <c:v>10:00</c:v>
                  </c:pt>
                  <c:pt idx="6">
                    <c:v>12:00</c:v>
                  </c:pt>
                  <c:pt idx="7">
                    <c:v>14:00</c:v>
                  </c:pt>
                  <c:pt idx="8">
                    <c:v>16:00</c:v>
                  </c:pt>
                  <c:pt idx="9">
                    <c:v>18:00</c:v>
                  </c:pt>
                  <c:pt idx="10">
                    <c:v>20:00</c:v>
                  </c:pt>
                  <c:pt idx="11">
                    <c:v>22:00</c:v>
                  </c:pt>
                  <c:pt idx="12">
                    <c:v>24:00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>1120</c:v>
                </c:pt>
                <c:pt idx="9">
                  <c:v>1180</c:v>
                </c:pt>
                <c:pt idx="10">
                  <c:v>1230</c:v>
                </c:pt>
                <c:pt idx="11">
                  <c:v>1080</c:v>
                </c:pt>
                <c:pt idx="12">
                  <c:v>900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437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D2E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8EA0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21D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A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GridPulse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Grid Load Forecasting &amp; Peak-Risk Alerting Platform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583680" cy="1417320"/>
          </a:xfrm>
          <a:prstGeom prst="rect">
            <a:avLst/>
          </a:prstGeom>
          <a:solidFill>
            <a:srgbClr val="121D2E"/>
          </a:solidFill>
          <a:ln w="9525">
            <a:solidFill>
              <a:srgbClr val="2437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6126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&amp; Utilities — Grid Operations
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E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operators rely on historical averages and manual monitoring to catch demand spikes from weather events — too slow to react before brownouts or emergency power purchases become necessary.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3337560"/>
            <a:ext cx="6583680" cy="868680"/>
          </a:xfrm>
          <a:prstGeom prst="rect">
            <a:avLst/>
          </a:prstGeom>
          <a:solidFill>
            <a:srgbClr val="121D2E"/>
          </a:solidFill>
          <a:ln w="9525">
            <a:solidFill>
              <a:srgbClr val="2437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347472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user: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Operations Analyst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E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monitors regional demand, watches for peak-load strain, decides when to escalate or arrange supplemental capacity.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34340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i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domain: </a:t>
            </a:r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8E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reliability is a real operational problem — forecasting, cloud architecture, and async processing directly create business value, in a domain distinct from the healthcare/finance projects most teams pick.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257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9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6235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Harshitha Tumati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56235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Arun Reddy Karnati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9436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BalaVardhan Reddy Konda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59436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Tanmaya Sai Dudipalli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2636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Dhanush Goud Rekhala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452360" y="457200"/>
            <a:ext cx="4206240" cy="5943600"/>
          </a:xfrm>
          <a:prstGeom prst="rect">
            <a:avLst/>
          </a:prstGeom>
          <a:solidFill>
            <a:srgbClr val="121D2E"/>
          </a:solidFill>
          <a:ln w="9525">
            <a:solidFill>
              <a:srgbClr val="2437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80960" y="640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E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LOAD — 24H FORECAST</a:t>
            </a:r>
            <a:endParaRPr lang="en-US" sz="10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7635240" y="1005840"/>
          <a:ext cx="37490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7680960" y="36576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 MW</a:t>
            </a:r>
            <a:endParaRPr lang="en-US" sz="2600" dirty="0"/>
          </a:p>
          <a:p>
            <a:pPr indent="0" marL="0">
              <a:buNone/>
            </a:pPr>
            <a:r>
              <a:rPr lang="en-US" sz="1000" dirty="0">
                <a:solidFill>
                  <a:srgbClr val="8E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capacity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9601200" y="36576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2200" dirty="0"/>
          </a:p>
          <a:p>
            <a:pPr indent="0" marL="0">
              <a:buNone/>
            </a:pPr>
            <a:r>
              <a:rPr lang="en-US" sz="1000" dirty="0">
                <a:solidFill>
                  <a:srgbClr val="8E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next-hour risk level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7680960" y="4572000"/>
            <a:ext cx="3749040" cy="0"/>
          </a:xfrm>
          <a:prstGeom prst="line">
            <a:avLst/>
          </a:prstGeom>
          <a:noFill/>
          <a:ln w="9525">
            <a:solidFill>
              <a:srgbClr val="24374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680960" y="475488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8E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region shows a synthetic heat-wave spike; an uploaded infrastructure PDF can reduce effective capacity in real time, moving the risk level from normal to watch/high/critical.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snapshot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 · application layer · data store — and the three technical dimensions each one exercises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480560" y="1234440"/>
            <a:ext cx="3200400" cy="457200"/>
          </a:xfrm>
          <a:prstGeom prst="rect">
            <a:avLst>
              <a:gd name="adj" fmla="val 12000"/>
            </a:avLst>
          </a:prstGeom>
          <a:solidFill>
            <a:srgbClr val="17263C"/>
          </a:solidFill>
          <a:ln w="12700">
            <a:solidFill>
              <a:srgbClr val="2437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480560" y="1234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80760" y="1691640"/>
            <a:ext cx="0" cy="219456"/>
          </a:xfrm>
          <a:prstGeom prst="line">
            <a:avLst/>
          </a:prstGeom>
          <a:noFill/>
          <a:ln w="22225">
            <a:solidFill>
              <a:srgbClr val="4FD1C5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480560" y="1911096"/>
            <a:ext cx="3200400" cy="457200"/>
          </a:xfrm>
          <a:prstGeom prst="rect">
            <a:avLst>
              <a:gd name="adj" fmla="val 12000"/>
            </a:avLst>
          </a:prstGeom>
          <a:solidFill>
            <a:srgbClr val="17263C"/>
          </a:solidFill>
          <a:ln w="12700">
            <a:solidFill>
              <a:srgbClr val="2437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191109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Application Layer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2368296"/>
            <a:ext cx="0" cy="219456"/>
          </a:xfrm>
          <a:prstGeom prst="line">
            <a:avLst/>
          </a:prstGeom>
          <a:noFill/>
          <a:ln w="22225">
            <a:solidFill>
              <a:srgbClr val="4FD1C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170432" y="2770632"/>
            <a:ext cx="2331720" cy="777240"/>
          </a:xfrm>
          <a:prstGeom prst="rect">
            <a:avLst>
              <a:gd name="adj" fmla="val 5882"/>
            </a:avLst>
          </a:prstGeom>
          <a:solidFill>
            <a:srgbClr val="121D2E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70432" y="28803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1912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336292" y="2523744"/>
            <a:ext cx="0" cy="201168"/>
          </a:xfrm>
          <a:prstGeom prst="line">
            <a:avLst/>
          </a:prstGeom>
          <a:noFill/>
          <a:ln w="22225">
            <a:solidFill>
              <a:srgbClr val="4FD1C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666744" y="2770632"/>
            <a:ext cx="2331720" cy="777240"/>
          </a:xfrm>
          <a:prstGeom prst="rect">
            <a:avLst>
              <a:gd name="adj" fmla="val 5882"/>
            </a:avLst>
          </a:prstGeom>
          <a:solidFill>
            <a:srgbClr val="121D2E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66744" y="28803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Processing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666744" y="31912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files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32604" y="2523744"/>
            <a:ext cx="0" cy="201168"/>
          </a:xfrm>
          <a:prstGeom prst="line">
            <a:avLst/>
          </a:prstGeom>
          <a:noFill/>
          <a:ln w="22225">
            <a:solidFill>
              <a:srgbClr val="4FD1C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163056" y="2770632"/>
            <a:ext cx="2331720" cy="777240"/>
          </a:xfrm>
          <a:prstGeom prst="rect">
            <a:avLst>
              <a:gd name="adj" fmla="val 5882"/>
            </a:avLst>
          </a:prstGeom>
          <a:solidFill>
            <a:srgbClr val="121D2E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63056" y="28803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Job Queue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163056" y="31912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spikes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28916" y="2523744"/>
            <a:ext cx="0" cy="201168"/>
          </a:xfrm>
          <a:prstGeom prst="line">
            <a:avLst/>
          </a:prstGeom>
          <a:noFill/>
          <a:ln w="22225">
            <a:solidFill>
              <a:srgbClr val="4FD1C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659368" y="2770632"/>
            <a:ext cx="2331720" cy="777240"/>
          </a:xfrm>
          <a:prstGeom prst="rect">
            <a:avLst>
              <a:gd name="adj" fmla="val 5882"/>
            </a:avLst>
          </a:prstGeom>
          <a:solidFill>
            <a:srgbClr val="121D2E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59368" y="28803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Forecasting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659368" y="31912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model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825228" y="2523744"/>
            <a:ext cx="0" cy="201168"/>
          </a:xfrm>
          <a:prstGeom prst="line">
            <a:avLst/>
          </a:prstGeom>
          <a:noFill/>
          <a:ln w="22225">
            <a:solidFill>
              <a:srgbClr val="4FD1C5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080760" y="3566160"/>
            <a:ext cx="0" cy="219456"/>
          </a:xfrm>
          <a:prstGeom prst="line">
            <a:avLst/>
          </a:prstGeom>
          <a:noFill/>
          <a:ln w="22225">
            <a:solidFill>
              <a:srgbClr val="4FD1C5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480560" y="3803904"/>
            <a:ext cx="3200400" cy="457200"/>
          </a:xfrm>
          <a:prstGeom prst="rect">
            <a:avLst>
              <a:gd name="adj" fmla="val 12000"/>
            </a:avLst>
          </a:prstGeom>
          <a:solidFill>
            <a:srgbClr val="17263C"/>
          </a:solidFill>
          <a:ln w="12700">
            <a:solidFill>
              <a:srgbClr val="24374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480560" y="380390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+ Peak Alerts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E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DIMENSIONS THIS PROJECT TOUCHES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5102352"/>
            <a:ext cx="109728" cy="109728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04672" y="5001768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 — regions, readings, weather, forecasts, alerts, jobs (PostgreSQL, indexed on region + time).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5559552"/>
            <a:ext cx="109728" cy="109728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04672" y="5458968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file processing — PDF infrastructure reports parsed with pdfplumber, linked to a region's effective capacity.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6016752"/>
            <a:ext cx="109728" cy="109728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04672" y="5916168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/ traffic spikes — a background worker drains a queued-job table concurrently so a 10-region recompute doesn't block the API.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492240" y="47091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E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MIGRATION PATH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5056632"/>
          <a:ext cx="5120640" cy="1600200"/>
        </p:xfrm>
        <a:graphic>
          <a:graphicData uri="http://schemas.openxmlformats.org/drawingml/2006/table">
            <a:tbl>
              <a:tblPr/>
              <a:tblGrid>
                <a:gridCol w="2103120"/>
                <a:gridCol w="3017520"/>
              </a:tblGrid>
              <a:tr h="266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A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(this milestone)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4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A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4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3C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EA0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4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EA0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Amplify / S3 + CloudFront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4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2E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EA0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4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EA0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ECS/Fargate or Lambda + API Gateway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4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2E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EA0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4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EA0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RDS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4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2E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EA0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uploads/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4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EA0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S3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4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2E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EA0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asyncio worker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4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EA0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SQS + Lambda/ECS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4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2026-09-09T06:04:28Z</dcterms:created>
  <dcterms:modified xsi:type="dcterms:W3CDTF">2026-09-09T06:04:28Z</dcterms:modified>
</cp:coreProperties>
</file>